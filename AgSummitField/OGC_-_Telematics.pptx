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1"/>
  </p:sldMasterIdLst>
  <p:notesMasterIdLst>
    <p:notesMasterId r:id="rId31"/>
  </p:notesMasterIdLst>
  <p:handoutMasterIdLst>
    <p:handoutMasterId r:id="rId32"/>
  </p:handoutMasterIdLst>
  <p:sldIdLst>
    <p:sldId id="474" r:id="rId2"/>
    <p:sldId id="555" r:id="rId3"/>
    <p:sldId id="558" r:id="rId4"/>
    <p:sldId id="559" r:id="rId5"/>
    <p:sldId id="552" r:id="rId6"/>
    <p:sldId id="533" r:id="rId7"/>
    <p:sldId id="554" r:id="rId8"/>
    <p:sldId id="560" r:id="rId9"/>
    <p:sldId id="562" r:id="rId10"/>
    <p:sldId id="571" r:id="rId11"/>
    <p:sldId id="572" r:id="rId12"/>
    <p:sldId id="563" r:id="rId13"/>
    <p:sldId id="564" r:id="rId14"/>
    <p:sldId id="565" r:id="rId15"/>
    <p:sldId id="568" r:id="rId16"/>
    <p:sldId id="570" r:id="rId17"/>
    <p:sldId id="567" r:id="rId18"/>
    <p:sldId id="569" r:id="rId19"/>
    <p:sldId id="573" r:id="rId20"/>
    <p:sldId id="561" r:id="rId21"/>
    <p:sldId id="531" r:id="rId22"/>
    <p:sldId id="530" r:id="rId23"/>
    <p:sldId id="541" r:id="rId24"/>
    <p:sldId id="540" r:id="rId25"/>
    <p:sldId id="542" r:id="rId26"/>
    <p:sldId id="546" r:id="rId27"/>
    <p:sldId id="543" r:id="rId28"/>
    <p:sldId id="544" r:id="rId29"/>
    <p:sldId id="545" r:id="rId3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ichardson, Emily" initials="RE" lastIdx="27" clrIdx="0"/>
  <p:cmAuthor id="1" name="Jill Beckett" initials="JB" lastIdx="0" clrIdx="1"/>
  <p:cmAuthor id="2" name="Rushing, Matt" initials="RM" lastIdx="4" clrIdx="2"/>
  <p:cmAuthor id="3" name="Windows User" initials="WU" lastIdx="9" clrIdx="3"/>
  <p:cmAuthor id="4" name="Richardson, Emily" initials="ER" lastIdx="1" clrIdx="4"/>
  <p:cmAuthor id="5" name="Ben Craker" initials="BC" lastIdx="1" clrIdx="5">
    <p:extLst>
      <p:ext uri="{19B8F6BF-5375-455C-9EA6-DF929625EA0E}">
        <p15:presenceInfo xmlns:p15="http://schemas.microsoft.com/office/powerpoint/2012/main" userId="3acd474740f484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B30727"/>
    <a:srgbClr val="FFFFFF"/>
    <a:srgbClr val="F3F1E6"/>
    <a:srgbClr val="000000"/>
    <a:srgbClr val="C00000"/>
    <a:srgbClr val="333333"/>
    <a:srgbClr val="C5B783"/>
    <a:srgbClr val="84BD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5" autoAdjust="0"/>
    <p:restoredTop sz="92938" autoAdjust="0"/>
  </p:normalViewPr>
  <p:slideViewPr>
    <p:cSldViewPr snapToGrid="0" snapToObjects="1">
      <p:cViewPr varScale="1">
        <p:scale>
          <a:sx n="85" d="100"/>
          <a:sy n="85" d="100"/>
        </p:scale>
        <p:origin x="504" y="72"/>
      </p:cViewPr>
      <p:guideLst>
        <p:guide orient="horz" pos="41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9" d="100"/>
        <a:sy n="89" d="100"/>
      </p:scale>
      <p:origin x="0" y="13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F624A-BDCC-46B6-8A99-AB0E7E6E2E99}" type="datetimeFigureOut">
              <a:rPr lang="en-US" smtClean="0"/>
              <a:pPr/>
              <a:t>3/21/2017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2C299-DA30-4B6D-83E7-BFAD20330F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4370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FA4FA-9E61-F447-8EAB-CEDB59C22F3A}" type="datetimeFigureOut">
              <a:rPr lang="en-US" smtClean="0"/>
              <a:pPr/>
              <a:t>3/21/2017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A8913-B0FA-F74E-B57D-082AD9C17C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23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CA8913-B0FA-F74E-B57D-082AD9C17CC1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971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40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AgGateway_2c tagline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561" y="381001"/>
            <a:ext cx="2807818" cy="1484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0823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601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4561" y="2371726"/>
            <a:ext cx="9806516" cy="1285875"/>
          </a:xfrm>
        </p:spPr>
        <p:txBody>
          <a:bodyPr anchor="b">
            <a:normAutofit/>
          </a:bodyPr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3810001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8520-3E13-4E88-9438-E1D9C3B70EE4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A8B2-84D3-49A8-8E03-921EE22FAE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373221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AgGateway_2c tagline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4800" y="533400"/>
            <a:ext cx="371526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2364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D0B4D-EF68-4388-A41F-10ACDDBD0E21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765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95F8-A61A-4F44-9671-FB18CE2DBD3B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65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DA3F8-9EA7-4CA9-A2EB-EA8BED8485E4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79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62BC-9F19-4FB4-B926-CCDD26389FB6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3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BDB25-753E-4F17-86BB-D01020E2C19A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79199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C6C2-57C1-4D11-97E7-030DC9035E58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54286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923-A5FB-47BD-A04F-EDC273DE213F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7973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8D5A-01AA-4E24-8E1D-E204A0862FD8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1723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AgGateway_2c tagline"/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60908" y="6096001"/>
            <a:ext cx="1326292" cy="54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2509051-4C5C-4DB9-B0C7-67F803FAF093}" type="datetime1">
              <a:rPr lang="en-US" smtClean="0"/>
              <a:t>3/21/2017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7DDBAE9-6769-AF46-A6E9-ED85930144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2" descr="AgGateway_2c tagline"/>
          <p:cNvPicPr>
            <a:picLocks noChangeAspect="1" noChangeArrowheads="1"/>
          </p:cNvPicPr>
          <p:nvPr/>
        </p:nvPicPr>
        <p:blipFill rotWithShape="1">
          <a:blip r:embed="rId14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-1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3533572"/>
            <a:ext cx="12192000" cy="263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926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2.wdp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nag.io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daptframework.org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gdatacoalition.org/" TargetMode="External"/><Relationship Id="rId2" Type="http://schemas.openxmlformats.org/officeDocument/2006/relationships/hyperlink" Target="http://www.gisc.coop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OGC Conference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Field Operations and Telematics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914400" y="4889934"/>
            <a:ext cx="7086600" cy="1663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Clr>
                <a:srgbClr val="B30727"/>
              </a:buClr>
              <a:buFont typeface="Arial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Clr>
                <a:srgbClr val="B30727"/>
              </a:buClr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Ben Craker</a:t>
            </a:r>
          </a:p>
          <a:p>
            <a:r>
              <a:rPr lang="en-US" dirty="0"/>
              <a:t>Product Manager Global Fuse: Data , Partners &amp; Standards</a:t>
            </a:r>
          </a:p>
          <a:p>
            <a:r>
              <a:rPr lang="en-US" dirty="0"/>
              <a:t>AGCO Corp.</a:t>
            </a:r>
          </a:p>
          <a:p>
            <a:endParaRPr lang="en-US" dirty="0"/>
          </a:p>
          <a:p>
            <a:r>
              <a:rPr lang="en-US" dirty="0"/>
              <a:t>Project Chair, SPADE3</a:t>
            </a:r>
          </a:p>
        </p:txBody>
      </p:sp>
    </p:spTree>
    <p:extLst>
      <p:ext uri="{BB962C8B-B14F-4D97-AF65-F5344CB8AC3E}">
        <p14:creationId xmlns:p14="http://schemas.microsoft.com/office/powerpoint/2010/main" val="3651602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86769" y="901042"/>
            <a:ext cx="2618463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200" b="1" dirty="0">
                <a:solidFill>
                  <a:srgbClr val="0067AC"/>
                </a:solidFill>
                <a:latin typeface="Cambria"/>
                <a:cs typeface="Cambria"/>
              </a:rPr>
              <a:t>SPADE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4977" y="2272642"/>
            <a:ext cx="84220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0067AC"/>
                </a:solidFill>
                <a:latin typeface="Cambria"/>
                <a:cs typeface="Cambria"/>
              </a:rPr>
              <a:t>S</a:t>
            </a:r>
            <a:r>
              <a:rPr lang="en-US" sz="3600" dirty="0">
                <a:solidFill>
                  <a:srgbClr val="679146"/>
                </a:solidFill>
                <a:latin typeface="Cambria"/>
                <a:cs typeface="Cambria"/>
              </a:rPr>
              <a:t>tandardized</a:t>
            </a:r>
            <a:r>
              <a:rPr lang="en-US" sz="3600" b="1" dirty="0">
                <a:solidFill>
                  <a:srgbClr val="0067AC"/>
                </a:solidFill>
                <a:latin typeface="Cambria"/>
                <a:cs typeface="Cambria"/>
              </a:rPr>
              <a:t> P</a:t>
            </a:r>
            <a:r>
              <a:rPr lang="en-US" sz="3600" dirty="0">
                <a:solidFill>
                  <a:srgbClr val="679146"/>
                </a:solidFill>
                <a:latin typeface="Cambria"/>
                <a:cs typeface="Cambria"/>
              </a:rPr>
              <a:t>recision</a:t>
            </a:r>
            <a:r>
              <a:rPr lang="en-US" sz="3600" b="1" dirty="0">
                <a:solidFill>
                  <a:srgbClr val="0067AC"/>
                </a:solidFill>
                <a:latin typeface="Cambria"/>
                <a:cs typeface="Cambria"/>
              </a:rPr>
              <a:t> A</a:t>
            </a:r>
            <a:r>
              <a:rPr lang="en-US" sz="3600" dirty="0">
                <a:solidFill>
                  <a:srgbClr val="679146"/>
                </a:solidFill>
                <a:latin typeface="Cambria"/>
                <a:cs typeface="Cambria"/>
              </a:rPr>
              <a:t>g</a:t>
            </a:r>
            <a:r>
              <a:rPr lang="en-US" sz="3600" b="1" dirty="0">
                <a:solidFill>
                  <a:srgbClr val="0067AC"/>
                </a:solidFill>
                <a:latin typeface="Cambria"/>
                <a:cs typeface="Cambria"/>
              </a:rPr>
              <a:t> D</a:t>
            </a:r>
            <a:r>
              <a:rPr lang="en-US" sz="3600" dirty="0">
                <a:solidFill>
                  <a:srgbClr val="679146"/>
                </a:solidFill>
                <a:latin typeface="Cambria"/>
                <a:cs typeface="Cambria"/>
              </a:rPr>
              <a:t>ata</a:t>
            </a:r>
            <a:r>
              <a:rPr lang="en-US" sz="3600" b="1" dirty="0">
                <a:solidFill>
                  <a:srgbClr val="0067AC"/>
                </a:solidFill>
                <a:latin typeface="Cambria"/>
                <a:cs typeface="Cambria"/>
              </a:rPr>
              <a:t> E</a:t>
            </a:r>
            <a:r>
              <a:rPr lang="en-US" sz="3600" dirty="0">
                <a:solidFill>
                  <a:srgbClr val="679146"/>
                </a:solidFill>
                <a:latin typeface="Cambria"/>
                <a:cs typeface="Cambria"/>
              </a:rPr>
              <a:t>xchange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180806" y="3917607"/>
            <a:ext cx="1830388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6200" b="1" dirty="0">
                <a:solidFill>
                  <a:srgbClr val="0067AC"/>
                </a:solidFill>
                <a:latin typeface="Cambria" panose="02040503050406030204" pitchFamily="18" charset="0"/>
              </a:rPr>
              <a:t>PAIL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2598738" y="5289207"/>
            <a:ext cx="6994525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3600" b="1">
                <a:solidFill>
                  <a:srgbClr val="0067AC"/>
                </a:solidFill>
                <a:latin typeface="Cambria" panose="02040503050406030204" pitchFamily="18" charset="0"/>
              </a:rPr>
              <a:t>P</a:t>
            </a:r>
            <a:r>
              <a:rPr lang="en-US" altLang="en-US" sz="3600">
                <a:solidFill>
                  <a:srgbClr val="679146"/>
                </a:solidFill>
                <a:latin typeface="Cambria" panose="02040503050406030204" pitchFamily="18" charset="0"/>
              </a:rPr>
              <a:t>recision</a:t>
            </a:r>
            <a:r>
              <a:rPr lang="en-US" altLang="en-US" sz="3600" b="1">
                <a:solidFill>
                  <a:srgbClr val="0067AC"/>
                </a:solidFill>
                <a:latin typeface="Cambria" panose="02040503050406030204" pitchFamily="18" charset="0"/>
              </a:rPr>
              <a:t> A</a:t>
            </a:r>
            <a:r>
              <a:rPr lang="en-US" altLang="en-US" sz="3600">
                <a:solidFill>
                  <a:srgbClr val="679146"/>
                </a:solidFill>
                <a:latin typeface="Cambria" panose="02040503050406030204" pitchFamily="18" charset="0"/>
              </a:rPr>
              <a:t>g</a:t>
            </a:r>
            <a:r>
              <a:rPr lang="en-US" altLang="en-US" sz="3600" b="1">
                <a:solidFill>
                  <a:srgbClr val="0067AC"/>
                </a:solidFill>
                <a:latin typeface="Cambria" panose="02040503050406030204" pitchFamily="18" charset="0"/>
              </a:rPr>
              <a:t> I</a:t>
            </a:r>
            <a:r>
              <a:rPr lang="en-US" altLang="en-US" sz="3600">
                <a:solidFill>
                  <a:srgbClr val="679146"/>
                </a:solidFill>
                <a:latin typeface="Cambria" panose="02040503050406030204" pitchFamily="18" charset="0"/>
              </a:rPr>
              <a:t>rrigation</a:t>
            </a:r>
            <a:r>
              <a:rPr lang="en-US" altLang="en-US" sz="3600" b="1">
                <a:solidFill>
                  <a:srgbClr val="0067AC"/>
                </a:solidFill>
                <a:latin typeface="Cambria" panose="02040503050406030204" pitchFamily="18" charset="0"/>
              </a:rPr>
              <a:t> L</a:t>
            </a:r>
            <a:r>
              <a:rPr lang="en-US" altLang="en-US" sz="3600">
                <a:solidFill>
                  <a:srgbClr val="679146"/>
                </a:solidFill>
                <a:latin typeface="Cambria" panose="02040503050406030204" pitchFamily="18" charset="0"/>
              </a:rPr>
              <a:t>eadership</a:t>
            </a:r>
          </a:p>
        </p:txBody>
      </p:sp>
    </p:spTree>
    <p:extLst>
      <p:ext uri="{BB962C8B-B14F-4D97-AF65-F5344CB8AC3E}">
        <p14:creationId xmlns:p14="http://schemas.microsoft.com/office/powerpoint/2010/main" val="87223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SPADE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61" y="1524000"/>
            <a:ext cx="8229600" cy="4876800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Core Document Definition</a:t>
            </a:r>
          </a:p>
          <a:p>
            <a:pPr lvl="1"/>
            <a:r>
              <a:rPr lang="en-US" dirty="0"/>
              <a:t>Crop Plan</a:t>
            </a:r>
          </a:p>
          <a:p>
            <a:pPr lvl="1"/>
            <a:r>
              <a:rPr lang="en-US" dirty="0"/>
              <a:t>Recommendation</a:t>
            </a:r>
          </a:p>
          <a:p>
            <a:pPr lvl="1"/>
            <a:r>
              <a:rPr lang="en-US" dirty="0"/>
              <a:t>Work Order</a:t>
            </a:r>
          </a:p>
          <a:p>
            <a:pPr lvl="1"/>
            <a:r>
              <a:rPr lang="en-US" dirty="0"/>
              <a:t>Work Record</a:t>
            </a:r>
          </a:p>
          <a:p>
            <a:pPr lvl="1"/>
            <a:r>
              <a:rPr lang="en-US" dirty="0"/>
              <a:t>Observations and measurements</a:t>
            </a:r>
          </a:p>
          <a:p>
            <a:r>
              <a:rPr lang="en-US" sz="2800" dirty="0"/>
              <a:t>User Stories</a:t>
            </a:r>
          </a:p>
          <a:p>
            <a:pPr lvl="1"/>
            <a:r>
              <a:rPr lang="en-US" dirty="0"/>
              <a:t>Seeding</a:t>
            </a:r>
          </a:p>
          <a:p>
            <a:pPr lvl="1"/>
            <a:r>
              <a:rPr lang="en-US" dirty="0"/>
              <a:t>Crop Protection</a:t>
            </a:r>
          </a:p>
          <a:p>
            <a:pPr lvl="1"/>
            <a:r>
              <a:rPr lang="en-US" dirty="0"/>
              <a:t>CART- Grain Movement Field to Processor</a:t>
            </a:r>
          </a:p>
          <a:p>
            <a:pPr lvl="1"/>
            <a:r>
              <a:rPr lang="en-US" dirty="0"/>
              <a:t>WAVE-Telematics</a:t>
            </a:r>
          </a:p>
          <a:p>
            <a:pPr lvl="1"/>
            <a:r>
              <a:rPr lang="en-US" dirty="0"/>
              <a:t>Crop Nutrition</a:t>
            </a:r>
          </a:p>
          <a:p>
            <a:pPr lvl="1"/>
            <a:r>
              <a:rPr lang="en-US" dirty="0"/>
              <a:t>Scouting, Observations &amp; Measurements</a:t>
            </a:r>
          </a:p>
          <a:p>
            <a:pPr lvl="1"/>
            <a:r>
              <a:rPr lang="en-US" dirty="0"/>
              <a:t>Mechanical &amp; Non-Mechanical Harvest</a:t>
            </a:r>
            <a:endParaRPr lang="en-US" sz="2800" dirty="0"/>
          </a:p>
          <a:p>
            <a:r>
              <a:rPr lang="en-US" sz="2800" dirty="0"/>
              <a:t>Geopolitical Context Work</a:t>
            </a:r>
          </a:p>
          <a:p>
            <a:pPr lvl="1"/>
            <a:r>
              <a:rPr lang="en-US" dirty="0"/>
              <a:t>Government &amp; Insurance, Sustainability Reporting </a:t>
            </a:r>
          </a:p>
          <a:p>
            <a:r>
              <a:rPr lang="en-US" sz="2800" dirty="0"/>
              <a:t>Reference Data APIs</a:t>
            </a:r>
          </a:p>
          <a:p>
            <a:pPr lvl="1"/>
            <a:r>
              <a:rPr lang="en-US" dirty="0" err="1"/>
              <a:t>ContextItem</a:t>
            </a:r>
            <a:r>
              <a:rPr lang="en-US" dirty="0"/>
              <a:t> POC</a:t>
            </a:r>
          </a:p>
          <a:p>
            <a:pPr lvl="1"/>
            <a:r>
              <a:rPr lang="en-US" dirty="0"/>
              <a:t>Equipment, Product, Seed </a:t>
            </a:r>
            <a:r>
              <a:rPr lang="en-US" dirty="0" err="1"/>
              <a:t>Definiton</a:t>
            </a:r>
            <a:endParaRPr lang="en-US" dirty="0"/>
          </a:p>
          <a:p>
            <a:r>
              <a:rPr lang="en-US" sz="2800" dirty="0"/>
              <a:t>Implementation Guidelines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DE3A8B2-84D3-49A8-8E03-921EE22FAEA7}" type="slidenum">
              <a:rPr lang="en-US" sz="1400" b="1" kern="0">
                <a:solidFill>
                  <a:srgbClr val="FFFFFF"/>
                </a:solidFill>
              </a:rPr>
              <a:pPr>
                <a:defRPr/>
              </a:pPr>
              <a:t>3</a:t>
            </a:fld>
            <a:endParaRPr lang="en-US" sz="1400" b="1" kern="0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3905" y="1524000"/>
            <a:ext cx="4061212" cy="26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01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Previously covered by Andres </a:t>
            </a:r>
          </a:p>
          <a:p>
            <a:r>
              <a:rPr lang="en-US" dirty="0"/>
              <a:t>PAIL and SPADE share several common concepts</a:t>
            </a:r>
          </a:p>
          <a:p>
            <a:pPr lvl="1"/>
            <a:r>
              <a:rPr lang="en-US" dirty="0"/>
              <a:t>Core Documents</a:t>
            </a:r>
          </a:p>
          <a:p>
            <a:pPr lvl="1"/>
            <a:r>
              <a:rPr lang="en-US" dirty="0"/>
              <a:t>Observations &amp; measurements</a:t>
            </a:r>
          </a:p>
          <a:p>
            <a:pPr lvl="1"/>
            <a:r>
              <a:rPr lang="en-US" dirty="0"/>
              <a:t>Telematics and remote data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261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9" y="-894"/>
            <a:ext cx="12190411" cy="685889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26895" y="-210677"/>
            <a:ext cx="10972800" cy="990600"/>
          </a:xfrm>
        </p:spPr>
        <p:txBody>
          <a:bodyPr/>
          <a:lstStyle/>
          <a:p>
            <a:r>
              <a:rPr lang="en-US" b="1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Field Operations &amp; Telematics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869" y="3818966"/>
            <a:ext cx="1515036" cy="408623"/>
          </a:xfrm>
          <a:prstGeom prst="wedgeRoundRectCallout">
            <a:avLst>
              <a:gd name="adj1" fmla="val -20833"/>
              <a:gd name="adj2" fmla="val 9102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Seeding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3622" y="1883632"/>
            <a:ext cx="1515036" cy="715089"/>
          </a:xfrm>
          <a:prstGeom prst="wedgeRoundRectCallout">
            <a:avLst>
              <a:gd name="adj1" fmla="val -20833"/>
              <a:gd name="adj2" fmla="val 9102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Tillage &amp; Soil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4918" y="2800220"/>
            <a:ext cx="1658470" cy="408623"/>
          </a:xfrm>
          <a:prstGeom prst="wedgeRoundRectCallout">
            <a:avLst>
              <a:gd name="adj1" fmla="val 20587"/>
              <a:gd name="adj2" fmla="val 11076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Irrigation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9836" y="4333185"/>
            <a:ext cx="1658470" cy="408623"/>
          </a:xfrm>
          <a:prstGeom prst="wedgeRoundRectCallout">
            <a:avLst>
              <a:gd name="adj1" fmla="val 20587"/>
              <a:gd name="adj2" fmla="val 11076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Harvest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480" y="1737589"/>
            <a:ext cx="1810872" cy="715089"/>
          </a:xfrm>
          <a:prstGeom prst="wedgeRoundRectCallout">
            <a:avLst>
              <a:gd name="adj1" fmla="val -20833"/>
              <a:gd name="adj2" fmla="val 9102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Crop Protection &amp; Nutrition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21857" y="850132"/>
            <a:ext cx="1963271" cy="709727"/>
          </a:xfrm>
          <a:prstGeom prst="wedgeRoundRectCallout">
            <a:avLst>
              <a:gd name="adj1" fmla="val -20833"/>
              <a:gd name="adj2" fmla="val 9102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Crop Storage &amp; Conditioning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9950" y="2466855"/>
            <a:ext cx="1712261" cy="408623"/>
          </a:xfrm>
          <a:prstGeom prst="wedgeRoundRectCallout">
            <a:avLst>
              <a:gd name="adj1" fmla="val -20833"/>
              <a:gd name="adj2" fmla="val -12398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Livestock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7716" y="1000683"/>
            <a:ext cx="1515036" cy="408623"/>
          </a:xfrm>
          <a:prstGeom prst="wedgeRoundRectCallout">
            <a:avLst>
              <a:gd name="adj1" fmla="val 25913"/>
              <a:gd name="adj2" fmla="val 11515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Farm 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9162" y="6566"/>
            <a:ext cx="1779496" cy="715089"/>
          </a:xfrm>
          <a:prstGeom prst="wedgeRoundRectCallout">
            <a:avLst>
              <a:gd name="adj1" fmla="val 21484"/>
              <a:gd name="adj2" fmla="val 9227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Advisor &amp; Input Supplier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1987" y="5056095"/>
            <a:ext cx="1515036" cy="715089"/>
          </a:xfrm>
          <a:prstGeom prst="wedgeRoundRectCallout">
            <a:avLst>
              <a:gd name="adj1" fmla="val -22608"/>
              <a:gd name="adj2" fmla="val -9107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Equipment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8306" y="3410339"/>
            <a:ext cx="1595718" cy="408628"/>
          </a:xfrm>
          <a:prstGeom prst="wedgeRoundRectCallout">
            <a:avLst>
              <a:gd name="adj1" fmla="val -36809"/>
              <a:gd name="adj2" fmla="val -10642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Mobile Access</a:t>
            </a:r>
          </a:p>
        </p:txBody>
      </p:sp>
    </p:spTree>
    <p:extLst>
      <p:ext uri="{BB962C8B-B14F-4D97-AF65-F5344CB8AC3E}">
        <p14:creationId xmlns:p14="http://schemas.microsoft.com/office/powerpoint/2010/main" val="302300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Information Flow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5" name="Arc 74"/>
          <p:cNvSpPr/>
          <p:nvPr/>
        </p:nvSpPr>
        <p:spPr>
          <a:xfrm rot="604127">
            <a:off x="5695738" y="1322852"/>
            <a:ext cx="7792223" cy="3060450"/>
          </a:xfrm>
          <a:prstGeom prst="arc">
            <a:avLst>
              <a:gd name="adj1" fmla="val 5420228"/>
              <a:gd name="adj2" fmla="val 10005358"/>
            </a:avLst>
          </a:prstGeom>
          <a:ln>
            <a:solidFill>
              <a:srgbClr val="0070C0"/>
            </a:solidFill>
            <a:headEnd type="stealth" w="lg" len="lg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Arc 76"/>
          <p:cNvSpPr/>
          <p:nvPr/>
        </p:nvSpPr>
        <p:spPr>
          <a:xfrm rot="10800000">
            <a:off x="3253564" y="2663388"/>
            <a:ext cx="7470119" cy="4731172"/>
          </a:xfrm>
          <a:prstGeom prst="arc">
            <a:avLst>
              <a:gd name="adj1" fmla="val 201293"/>
              <a:gd name="adj2" fmla="val 3341143"/>
            </a:avLst>
          </a:prstGeom>
          <a:ln>
            <a:solidFill>
              <a:srgbClr val="F79646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Arc 77"/>
          <p:cNvSpPr/>
          <p:nvPr/>
        </p:nvSpPr>
        <p:spPr>
          <a:xfrm rot="9184312">
            <a:off x="1889032" y="1682530"/>
            <a:ext cx="4008331" cy="3478325"/>
          </a:xfrm>
          <a:prstGeom prst="arc">
            <a:avLst>
              <a:gd name="adj1" fmla="val 12002409"/>
              <a:gd name="adj2" fmla="val 18487037"/>
            </a:avLst>
          </a:prstGeom>
          <a:ln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1" name="Picture 2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548435" y="2371715"/>
            <a:ext cx="540952" cy="58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85"/>
          <p:cNvSpPr txBox="1"/>
          <p:nvPr/>
        </p:nvSpPr>
        <p:spPr>
          <a:xfrm>
            <a:off x="5056913" y="2895786"/>
            <a:ext cx="15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Grower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972499" y="3982076"/>
            <a:ext cx="1524001" cy="853493"/>
            <a:chOff x="8972499" y="3982076"/>
            <a:chExt cx="1524001" cy="853493"/>
          </a:xfrm>
        </p:grpSpPr>
        <p:pic>
          <p:nvPicPr>
            <p:cNvPr id="82" name="Picture 8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442080" y="3982076"/>
              <a:ext cx="472381" cy="5638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TextBox 92"/>
            <p:cNvSpPr txBox="1"/>
            <p:nvPr/>
          </p:nvSpPr>
          <p:spPr>
            <a:xfrm>
              <a:off x="8972499" y="4527792"/>
              <a:ext cx="1524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Advisor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132886" y="844576"/>
            <a:ext cx="1524001" cy="1139785"/>
            <a:chOff x="8132886" y="844576"/>
            <a:chExt cx="1524001" cy="1139785"/>
          </a:xfrm>
        </p:grpSpPr>
        <p:pic>
          <p:nvPicPr>
            <p:cNvPr id="80" name="Picture 38" descr="http://i1.cpcache.com/product_zoom/1274410511/dji_quadcopter_sillhouette_calendar_print.jpg?height=250&amp;width=250&amp;padToSquare=true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499" y="844576"/>
              <a:ext cx="606387" cy="6063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TextBox 93"/>
            <p:cNvSpPr txBox="1"/>
            <p:nvPr/>
          </p:nvSpPr>
          <p:spPr>
            <a:xfrm>
              <a:off x="8132886" y="1461141"/>
              <a:ext cx="15240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Crop Scout or Other Data Source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597109" y="4950961"/>
            <a:ext cx="1524001" cy="811675"/>
            <a:chOff x="2597109" y="4950961"/>
            <a:chExt cx="1524001" cy="811675"/>
          </a:xfrm>
        </p:grpSpPr>
        <p:sp>
          <p:nvSpPr>
            <p:cNvPr id="92" name="TextBox 91"/>
            <p:cNvSpPr txBox="1"/>
            <p:nvPr/>
          </p:nvSpPr>
          <p:spPr>
            <a:xfrm>
              <a:off x="2597109" y="5454859"/>
              <a:ext cx="1524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Service Provider</a:t>
              </a:r>
            </a:p>
          </p:txBody>
        </p:sp>
        <p:pic>
          <p:nvPicPr>
            <p:cNvPr id="95" name="Picture 16"/>
            <p:cNvPicPr>
              <a:picLocks noChangeAspect="1" noChangeArrowheads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032616" y="4950961"/>
              <a:ext cx="441901" cy="526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" name="Group 13"/>
          <p:cNvGrpSpPr/>
          <p:nvPr/>
        </p:nvGrpSpPr>
        <p:grpSpPr>
          <a:xfrm>
            <a:off x="1655886" y="962160"/>
            <a:ext cx="1524001" cy="2459821"/>
            <a:chOff x="1655886" y="962160"/>
            <a:chExt cx="1524001" cy="2459821"/>
          </a:xfrm>
        </p:grpSpPr>
        <p:pic>
          <p:nvPicPr>
            <p:cNvPr id="83" name="Picture 4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4485" y="962160"/>
              <a:ext cx="975238" cy="899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4" name="Picture 5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3956" y="2441561"/>
              <a:ext cx="1028572" cy="510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" name="TextBox 95"/>
            <p:cNvSpPr txBox="1"/>
            <p:nvPr/>
          </p:nvSpPr>
          <p:spPr>
            <a:xfrm>
              <a:off x="1655886" y="2898761"/>
              <a:ext cx="15240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Partners &amp; Sustainability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09133" y="4544733"/>
            <a:ext cx="1524001" cy="693247"/>
            <a:chOff x="4409133" y="4544733"/>
            <a:chExt cx="1524001" cy="693247"/>
          </a:xfrm>
        </p:grpSpPr>
        <p:sp>
          <p:nvSpPr>
            <p:cNvPr id="89" name="TextBox 88"/>
            <p:cNvSpPr txBox="1"/>
            <p:nvPr/>
          </p:nvSpPr>
          <p:spPr>
            <a:xfrm>
              <a:off x="4409133" y="4930203"/>
              <a:ext cx="1524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Work Order</a:t>
              </a:r>
            </a:p>
          </p:txBody>
        </p:sp>
        <p:pic>
          <p:nvPicPr>
            <p:cNvPr id="97" name="Picture 13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9686" y="4544733"/>
              <a:ext cx="640000" cy="411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</p:pic>
      </p:grpSp>
      <p:grpSp>
        <p:nvGrpSpPr>
          <p:cNvPr id="11" name="Group 10"/>
          <p:cNvGrpSpPr/>
          <p:nvPr/>
        </p:nvGrpSpPr>
        <p:grpSpPr>
          <a:xfrm>
            <a:off x="3332285" y="3638454"/>
            <a:ext cx="1524001" cy="704159"/>
            <a:chOff x="3332285" y="3638454"/>
            <a:chExt cx="1524001" cy="704159"/>
          </a:xfrm>
        </p:grpSpPr>
        <p:sp>
          <p:nvSpPr>
            <p:cNvPr id="90" name="TextBox 89"/>
            <p:cNvSpPr txBox="1"/>
            <p:nvPr/>
          </p:nvSpPr>
          <p:spPr>
            <a:xfrm>
              <a:off x="3332285" y="4034836"/>
              <a:ext cx="1524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Work Record</a:t>
              </a:r>
            </a:p>
          </p:txBody>
        </p:sp>
        <p:pic>
          <p:nvPicPr>
            <p:cNvPr id="98" name="Picture 14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686" y="3638454"/>
              <a:ext cx="640000" cy="411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</p:pic>
      </p:grpSp>
      <p:sp>
        <p:nvSpPr>
          <p:cNvPr id="99" name="Freeform 98"/>
          <p:cNvSpPr/>
          <p:nvPr/>
        </p:nvSpPr>
        <p:spPr>
          <a:xfrm>
            <a:off x="6139963" y="3223660"/>
            <a:ext cx="3295859" cy="2506849"/>
          </a:xfrm>
          <a:custGeom>
            <a:avLst/>
            <a:gdLst>
              <a:gd name="connsiteX0" fmla="*/ 3295859 w 3295859"/>
              <a:gd name="connsiteY0" fmla="*/ 1356527 h 2506849"/>
              <a:gd name="connsiteX1" fmla="*/ 1567543 w 3295859"/>
              <a:gd name="connsiteY1" fmla="*/ 2461846 h 2506849"/>
              <a:gd name="connsiteX2" fmla="*/ 0 w 3295859"/>
              <a:gd name="connsiteY2" fmla="*/ 0 h 250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95859" h="2506849">
                <a:moveTo>
                  <a:pt x="3295859" y="1356527"/>
                </a:moveTo>
                <a:cubicBezTo>
                  <a:pt x="2706356" y="2022230"/>
                  <a:pt x="2116853" y="2687934"/>
                  <a:pt x="1567543" y="2461846"/>
                </a:cubicBezTo>
                <a:cubicBezTo>
                  <a:pt x="1018233" y="2235758"/>
                  <a:pt x="509116" y="1117879"/>
                  <a:pt x="0" y="0"/>
                </a:cubicBezTo>
              </a:path>
            </a:pathLst>
          </a:custGeom>
          <a:ln>
            <a:solidFill>
              <a:srgbClr val="F79646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258677" y="5459133"/>
            <a:ext cx="1636209" cy="640030"/>
            <a:chOff x="7258677" y="5459133"/>
            <a:chExt cx="1636209" cy="640030"/>
          </a:xfrm>
        </p:grpSpPr>
        <p:sp>
          <p:nvSpPr>
            <p:cNvPr id="85" name="TextBox 84"/>
            <p:cNvSpPr txBox="1"/>
            <p:nvPr/>
          </p:nvSpPr>
          <p:spPr>
            <a:xfrm>
              <a:off x="7258677" y="5791386"/>
              <a:ext cx="16362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Recommendation</a:t>
              </a:r>
            </a:p>
          </p:txBody>
        </p:sp>
        <p:pic>
          <p:nvPicPr>
            <p:cNvPr id="100" name="Picture 12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5286" y="5459133"/>
              <a:ext cx="640000" cy="411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7159392" y="3692749"/>
            <a:ext cx="1524001" cy="1365537"/>
            <a:chOff x="7159392" y="3692749"/>
            <a:chExt cx="1524001" cy="1365537"/>
          </a:xfrm>
        </p:grpSpPr>
        <p:sp>
          <p:nvSpPr>
            <p:cNvPr id="87" name="TextBox 86"/>
            <p:cNvSpPr txBox="1"/>
            <p:nvPr/>
          </p:nvSpPr>
          <p:spPr>
            <a:xfrm>
              <a:off x="7159392" y="4104179"/>
              <a:ext cx="15240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History</a:t>
              </a:r>
            </a:p>
            <a:p>
              <a:pPr algn="ctr"/>
              <a:r>
                <a:rPr lang="en-US" sz="1400" dirty="0"/>
                <a:t>(Work Records, Observations &amp; Measurements)</a:t>
              </a:r>
            </a:p>
          </p:txBody>
        </p:sp>
        <p:pic>
          <p:nvPicPr>
            <p:cNvPr id="101" name="Picture 10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7526" y="3692749"/>
              <a:ext cx="640000" cy="411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" name="Freeform 101"/>
          <p:cNvSpPr/>
          <p:nvPr/>
        </p:nvSpPr>
        <p:spPr>
          <a:xfrm>
            <a:off x="5958524" y="1123554"/>
            <a:ext cx="2532752" cy="1225899"/>
          </a:xfrm>
          <a:custGeom>
            <a:avLst/>
            <a:gdLst>
              <a:gd name="connsiteX0" fmla="*/ 0 w 2552281"/>
              <a:gd name="connsiteY0" fmla="*/ 1225899 h 1225899"/>
              <a:gd name="connsiteX1" fmla="*/ 602901 w 2552281"/>
              <a:gd name="connsiteY1" fmla="*/ 663191 h 1225899"/>
              <a:gd name="connsiteX2" fmla="*/ 2552281 w 2552281"/>
              <a:gd name="connsiteY2" fmla="*/ 0 h 122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2281" h="1225899">
                <a:moveTo>
                  <a:pt x="0" y="1225899"/>
                </a:moveTo>
                <a:cubicBezTo>
                  <a:pt x="88760" y="1046703"/>
                  <a:pt x="177521" y="867507"/>
                  <a:pt x="602901" y="663191"/>
                </a:cubicBezTo>
                <a:cubicBezTo>
                  <a:pt x="1028281" y="458875"/>
                  <a:pt x="1790281" y="229437"/>
                  <a:pt x="2552281" y="0"/>
                </a:cubicBezTo>
              </a:path>
            </a:pathLst>
          </a:custGeom>
          <a:ln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Freeform 102"/>
          <p:cNvSpPr/>
          <p:nvPr/>
        </p:nvSpPr>
        <p:spPr>
          <a:xfrm>
            <a:off x="6049528" y="1886958"/>
            <a:ext cx="3426488" cy="2070231"/>
          </a:xfrm>
          <a:custGeom>
            <a:avLst/>
            <a:gdLst>
              <a:gd name="connsiteX0" fmla="*/ 0 w 3426488"/>
              <a:gd name="connsiteY0" fmla="*/ 542882 h 2070231"/>
              <a:gd name="connsiteX1" fmla="*/ 823965 w 3426488"/>
              <a:gd name="connsiteY1" fmla="*/ 10319 h 2070231"/>
              <a:gd name="connsiteX2" fmla="*/ 2411604 w 3426488"/>
              <a:gd name="connsiteY2" fmla="*/ 964913 h 2070231"/>
              <a:gd name="connsiteX3" fmla="*/ 3426488 w 3426488"/>
              <a:gd name="connsiteY3" fmla="*/ 2070231 h 207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6488" h="2070231">
                <a:moveTo>
                  <a:pt x="0" y="542882"/>
                </a:moveTo>
                <a:cubicBezTo>
                  <a:pt x="211015" y="241431"/>
                  <a:pt x="422031" y="-60020"/>
                  <a:pt x="823965" y="10319"/>
                </a:cubicBezTo>
                <a:cubicBezTo>
                  <a:pt x="1225899" y="80658"/>
                  <a:pt x="1977850" y="621594"/>
                  <a:pt x="2411604" y="964913"/>
                </a:cubicBezTo>
                <a:cubicBezTo>
                  <a:pt x="2845358" y="1308232"/>
                  <a:pt x="3135923" y="1689231"/>
                  <a:pt x="3426488" y="2070231"/>
                </a:cubicBezTo>
              </a:path>
            </a:pathLst>
          </a:custGeom>
          <a:ln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6075485" y="1649133"/>
            <a:ext cx="1524001" cy="716230"/>
            <a:chOff x="6075485" y="1649133"/>
            <a:chExt cx="1524001" cy="716230"/>
          </a:xfrm>
        </p:grpSpPr>
        <p:sp>
          <p:nvSpPr>
            <p:cNvPr id="88" name="TextBox 87"/>
            <p:cNvSpPr txBox="1"/>
            <p:nvPr/>
          </p:nvSpPr>
          <p:spPr>
            <a:xfrm>
              <a:off x="6075485" y="2057586"/>
              <a:ext cx="1524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Crop Plan</a:t>
              </a:r>
            </a:p>
          </p:txBody>
        </p:sp>
        <p:pic>
          <p:nvPicPr>
            <p:cNvPr id="104" name="Picture 9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2286" y="1649133"/>
              <a:ext cx="640000" cy="411428"/>
            </a:xfrm>
            <a:prstGeom prst="rect">
              <a:avLst/>
            </a:prstGeom>
            <a:noFill/>
            <a:ln>
              <a:noFill/>
            </a:ln>
            <a:extLst/>
          </p:spPr>
        </p:pic>
      </p:grpSp>
      <p:sp>
        <p:nvSpPr>
          <p:cNvPr id="105" name="Freeform 104"/>
          <p:cNvSpPr/>
          <p:nvPr/>
        </p:nvSpPr>
        <p:spPr>
          <a:xfrm>
            <a:off x="3055118" y="1545585"/>
            <a:ext cx="2562330" cy="894303"/>
          </a:xfrm>
          <a:custGeom>
            <a:avLst/>
            <a:gdLst>
              <a:gd name="connsiteX0" fmla="*/ 2562330 w 2562330"/>
              <a:gd name="connsiteY0" fmla="*/ 894303 h 894303"/>
              <a:gd name="connsiteX1" fmla="*/ 1376624 w 2562330"/>
              <a:gd name="connsiteY1" fmla="*/ 341644 h 894303"/>
              <a:gd name="connsiteX2" fmla="*/ 0 w 2562330"/>
              <a:gd name="connsiteY2" fmla="*/ 0 h 894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62330" h="894303">
                <a:moveTo>
                  <a:pt x="2562330" y="894303"/>
                </a:moveTo>
                <a:cubicBezTo>
                  <a:pt x="2183004" y="692499"/>
                  <a:pt x="1803679" y="490695"/>
                  <a:pt x="1376624" y="341644"/>
                </a:cubicBezTo>
                <a:cubicBezTo>
                  <a:pt x="949569" y="192593"/>
                  <a:pt x="474784" y="96296"/>
                  <a:pt x="0" y="0"/>
                </a:cubicBezTo>
              </a:path>
            </a:pathLst>
          </a:custGeom>
          <a:ln>
            <a:solidFill>
              <a:srgbClr val="0070C0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Arc 105"/>
          <p:cNvSpPr/>
          <p:nvPr/>
        </p:nvSpPr>
        <p:spPr>
          <a:xfrm rot="6064636">
            <a:off x="6058306" y="1386335"/>
            <a:ext cx="4439892" cy="3478325"/>
          </a:xfrm>
          <a:prstGeom prst="arc">
            <a:avLst>
              <a:gd name="adj1" fmla="val 12002409"/>
              <a:gd name="adj2" fmla="val 17217139"/>
            </a:avLst>
          </a:prstGeom>
          <a:ln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9047286" y="2177412"/>
            <a:ext cx="1524001" cy="949949"/>
            <a:chOff x="9047286" y="2177412"/>
            <a:chExt cx="1524001" cy="949949"/>
          </a:xfrm>
        </p:grpSpPr>
        <p:pic>
          <p:nvPicPr>
            <p:cNvPr id="107" name="Picture 11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56885" y="2177412"/>
              <a:ext cx="640000" cy="411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TextBox 107"/>
            <p:cNvSpPr txBox="1"/>
            <p:nvPr/>
          </p:nvSpPr>
          <p:spPr>
            <a:xfrm>
              <a:off x="9047286" y="2604141"/>
              <a:ext cx="1524001" cy="523220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Observations &amp; Measurements</a:t>
              </a:r>
            </a:p>
          </p:txBody>
        </p:sp>
      </p:grpSp>
      <p:sp>
        <p:nvSpPr>
          <p:cNvPr id="109" name="Freeform 108"/>
          <p:cNvSpPr/>
          <p:nvPr/>
        </p:nvSpPr>
        <p:spPr>
          <a:xfrm>
            <a:off x="3035021" y="2167615"/>
            <a:ext cx="2502040" cy="463190"/>
          </a:xfrm>
          <a:custGeom>
            <a:avLst/>
            <a:gdLst>
              <a:gd name="connsiteX0" fmla="*/ 2502040 w 2502040"/>
              <a:gd name="connsiteY0" fmla="*/ 463190 h 463190"/>
              <a:gd name="connsiteX1" fmla="*/ 1286189 w 2502040"/>
              <a:gd name="connsiteY1" fmla="*/ 966 h 463190"/>
              <a:gd name="connsiteX2" fmla="*/ 0 w 2502040"/>
              <a:gd name="connsiteY2" fmla="*/ 332561 h 463190"/>
              <a:gd name="connsiteX3" fmla="*/ 0 w 2502040"/>
              <a:gd name="connsiteY3" fmla="*/ 332561 h 463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2040" h="463190">
                <a:moveTo>
                  <a:pt x="2502040" y="463190"/>
                </a:moveTo>
                <a:cubicBezTo>
                  <a:pt x="2102618" y="242963"/>
                  <a:pt x="1703196" y="22737"/>
                  <a:pt x="1286189" y="966"/>
                </a:cubicBezTo>
                <a:cubicBezTo>
                  <a:pt x="869182" y="-20806"/>
                  <a:pt x="0" y="332561"/>
                  <a:pt x="0" y="332561"/>
                </a:cubicBezTo>
                <a:lnTo>
                  <a:pt x="0" y="332561"/>
                </a:lnTo>
              </a:path>
            </a:pathLst>
          </a:custGeom>
          <a:ln>
            <a:solidFill>
              <a:srgbClr val="0070C0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941885" y="1877733"/>
            <a:ext cx="1524001" cy="716230"/>
            <a:chOff x="3941885" y="1877733"/>
            <a:chExt cx="1524001" cy="716230"/>
          </a:xfrm>
        </p:grpSpPr>
        <p:sp>
          <p:nvSpPr>
            <p:cNvPr id="91" name="TextBox 90"/>
            <p:cNvSpPr txBox="1"/>
            <p:nvPr/>
          </p:nvSpPr>
          <p:spPr>
            <a:xfrm>
              <a:off x="3941885" y="2286186"/>
              <a:ext cx="1524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Reports</a:t>
              </a:r>
            </a:p>
          </p:txBody>
        </p:sp>
        <p:pic>
          <p:nvPicPr>
            <p:cNvPr id="110" name="Picture 15"/>
            <p:cNvPicPr>
              <a:picLocks noChangeAspect="1" noChangeArrowheads="1"/>
            </p:cNvPicPr>
            <p:nvPr/>
          </p:nvPicPr>
          <p:blipFill>
            <a:blip r:embed="rId9" cstate="email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2885" y="1877733"/>
              <a:ext cx="640000" cy="411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3684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7" grpId="0" animBg="1"/>
      <p:bldP spid="78" grpId="0" animBg="1"/>
      <p:bldP spid="99" grpId="0" animBg="1"/>
      <p:bldP spid="102" grpId="0" animBg="1"/>
      <p:bldP spid="103" grpId="0" animBg="1"/>
      <p:bldP spid="105" grpId="0" animBg="1"/>
      <p:bldP spid="106" grpId="0" animBg="1"/>
      <p:bldP spid="10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SPADE Development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Pentagon 4"/>
          <p:cNvSpPr/>
          <p:nvPr/>
        </p:nvSpPr>
        <p:spPr>
          <a:xfrm>
            <a:off x="2142931" y="1513452"/>
            <a:ext cx="1447800" cy="1219200"/>
          </a:xfrm>
          <a:prstGeom prst="homePlat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User</a:t>
            </a:r>
          </a:p>
          <a:p>
            <a:pPr algn="ctr"/>
            <a:r>
              <a:rPr lang="en-US" b="1" dirty="0"/>
              <a:t>Stories</a:t>
            </a:r>
          </a:p>
        </p:txBody>
      </p:sp>
      <p:sp>
        <p:nvSpPr>
          <p:cNvPr id="12" name="Chevron 5"/>
          <p:cNvSpPr/>
          <p:nvPr/>
        </p:nvSpPr>
        <p:spPr>
          <a:xfrm>
            <a:off x="3153459" y="1513452"/>
            <a:ext cx="2133600" cy="1219200"/>
          </a:xfrm>
          <a:prstGeom prst="chevron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Use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13" name="Chevron 6"/>
          <p:cNvSpPr/>
          <p:nvPr/>
        </p:nvSpPr>
        <p:spPr>
          <a:xfrm>
            <a:off x="4838067" y="1513452"/>
            <a:ext cx="2209800" cy="12192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Buckets</a:t>
            </a:r>
          </a:p>
        </p:txBody>
      </p:sp>
      <p:sp>
        <p:nvSpPr>
          <p:cNvPr id="14" name="Chevron 7"/>
          <p:cNvSpPr/>
          <p:nvPr/>
        </p:nvSpPr>
        <p:spPr>
          <a:xfrm>
            <a:off x="6590667" y="1513452"/>
            <a:ext cx="2209800" cy="12192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Selected Standard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Gap Check</a:t>
            </a:r>
          </a:p>
        </p:txBody>
      </p:sp>
      <p:sp>
        <p:nvSpPr>
          <p:cNvPr id="15" name="Chevron 8"/>
          <p:cNvSpPr/>
          <p:nvPr/>
        </p:nvSpPr>
        <p:spPr>
          <a:xfrm>
            <a:off x="8357335" y="1513452"/>
            <a:ext cx="2209800" cy="1219200"/>
          </a:xfrm>
          <a:prstGeom prst="chevron">
            <a:avLst/>
          </a:prstGeom>
          <a:solidFill>
            <a:srgbClr val="66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Publish</a:t>
            </a:r>
          </a:p>
        </p:txBody>
      </p:sp>
      <p:sp>
        <p:nvSpPr>
          <p:cNvPr id="16" name="Freeform 9"/>
          <p:cNvSpPr/>
          <p:nvPr/>
        </p:nvSpPr>
        <p:spPr>
          <a:xfrm>
            <a:off x="5284837" y="2808852"/>
            <a:ext cx="1760808" cy="1752600"/>
          </a:xfrm>
          <a:custGeom>
            <a:avLst/>
            <a:gdLst>
              <a:gd name="connsiteX0" fmla="*/ 540328 w 1468582"/>
              <a:gd name="connsiteY0" fmla="*/ 0 h 1496291"/>
              <a:gd name="connsiteX1" fmla="*/ 554182 w 1468582"/>
              <a:gd name="connsiteY1" fmla="*/ 471055 h 1496291"/>
              <a:gd name="connsiteX2" fmla="*/ 942110 w 1468582"/>
              <a:gd name="connsiteY2" fmla="*/ 471055 h 1496291"/>
              <a:gd name="connsiteX3" fmla="*/ 1468582 w 1468582"/>
              <a:gd name="connsiteY3" fmla="*/ 969818 h 1496291"/>
              <a:gd name="connsiteX4" fmla="*/ 983673 w 1468582"/>
              <a:gd name="connsiteY4" fmla="*/ 1496291 h 1496291"/>
              <a:gd name="connsiteX5" fmla="*/ 0 w 1468582"/>
              <a:gd name="connsiteY5" fmla="*/ 1496291 h 1496291"/>
              <a:gd name="connsiteX6" fmla="*/ 27710 w 1468582"/>
              <a:gd name="connsiteY6" fmla="*/ 13855 h 1496291"/>
              <a:gd name="connsiteX7" fmla="*/ 540328 w 1468582"/>
              <a:gd name="connsiteY7" fmla="*/ 0 h 1496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8582" h="1496291">
                <a:moveTo>
                  <a:pt x="540328" y="0"/>
                </a:moveTo>
                <a:lnTo>
                  <a:pt x="554182" y="471055"/>
                </a:lnTo>
                <a:lnTo>
                  <a:pt x="942110" y="471055"/>
                </a:lnTo>
                <a:lnTo>
                  <a:pt x="1468582" y="969818"/>
                </a:lnTo>
                <a:lnTo>
                  <a:pt x="983673" y="1496291"/>
                </a:lnTo>
                <a:lnTo>
                  <a:pt x="0" y="1496291"/>
                </a:lnTo>
                <a:lnTo>
                  <a:pt x="27710" y="13855"/>
                </a:lnTo>
                <a:lnTo>
                  <a:pt x="540328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Reference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 needs</a:t>
            </a:r>
          </a:p>
        </p:txBody>
      </p:sp>
      <p:sp>
        <p:nvSpPr>
          <p:cNvPr id="17" name="Chevron 10"/>
          <p:cNvSpPr/>
          <p:nvPr/>
        </p:nvSpPr>
        <p:spPr>
          <a:xfrm>
            <a:off x="6595375" y="3356107"/>
            <a:ext cx="2209800" cy="1219200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Ref Data API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POC</a:t>
            </a:r>
          </a:p>
        </p:txBody>
      </p:sp>
      <p:sp>
        <p:nvSpPr>
          <p:cNvPr id="18" name="Chevron 11"/>
          <p:cNvSpPr/>
          <p:nvPr/>
        </p:nvSpPr>
        <p:spPr>
          <a:xfrm>
            <a:off x="8361830" y="3356107"/>
            <a:ext cx="2209800" cy="1219200"/>
          </a:xfrm>
          <a:prstGeom prst="chevron">
            <a:avLst/>
          </a:prstGeom>
          <a:solidFill>
            <a:srgbClr val="66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Publish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API Docs</a:t>
            </a:r>
          </a:p>
        </p:txBody>
      </p:sp>
      <p:sp>
        <p:nvSpPr>
          <p:cNvPr id="19" name="Content Placeholder 1"/>
          <p:cNvSpPr>
            <a:spLocks noGrp="1"/>
          </p:cNvSpPr>
          <p:nvPr>
            <p:ph idx="1"/>
          </p:nvPr>
        </p:nvSpPr>
        <p:spPr>
          <a:xfrm>
            <a:off x="6485758" y="4813639"/>
            <a:ext cx="4279651" cy="18915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Reference Data APIs </a:t>
            </a:r>
            <a:r>
              <a:rPr lang="en-US" dirty="0" err="1"/>
              <a:t>Defned</a:t>
            </a:r>
            <a:r>
              <a:rPr lang="en-US" dirty="0"/>
              <a:t> Throughout SPADE Projects</a:t>
            </a:r>
          </a:p>
          <a:p>
            <a:pPr lvl="1"/>
            <a:r>
              <a:rPr lang="en-US" dirty="0"/>
              <a:t>Equipment</a:t>
            </a:r>
          </a:p>
          <a:p>
            <a:pPr lvl="1"/>
            <a:r>
              <a:rPr lang="en-US" dirty="0"/>
              <a:t>Seed</a:t>
            </a:r>
          </a:p>
          <a:p>
            <a:pPr lvl="1"/>
            <a:r>
              <a:rPr lang="en-US" dirty="0"/>
              <a:t>Product</a:t>
            </a:r>
          </a:p>
          <a:p>
            <a:pPr lvl="1"/>
            <a:r>
              <a:rPr lang="en-US" dirty="0" err="1"/>
              <a:t>ContextItem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98432" y="2689980"/>
            <a:ext cx="477785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SPADE1</a:t>
            </a:r>
          </a:p>
          <a:p>
            <a:pPr lvl="1"/>
            <a:r>
              <a:rPr lang="en-US" dirty="0"/>
              <a:t>Seeding</a:t>
            </a:r>
          </a:p>
          <a:p>
            <a:r>
              <a:rPr lang="en-US" dirty="0"/>
              <a:t>SPADE2</a:t>
            </a:r>
          </a:p>
          <a:p>
            <a:pPr lvl="1"/>
            <a:r>
              <a:rPr lang="en-US" dirty="0"/>
              <a:t>Mechanical Harvest</a:t>
            </a:r>
          </a:p>
          <a:p>
            <a:pPr lvl="1"/>
            <a:r>
              <a:rPr lang="en-US" dirty="0"/>
              <a:t>Non-Mechanical Harvest</a:t>
            </a:r>
          </a:p>
          <a:p>
            <a:pPr lvl="1"/>
            <a:r>
              <a:rPr lang="en-US" dirty="0"/>
              <a:t>Crop Protection</a:t>
            </a:r>
          </a:p>
          <a:p>
            <a:pPr lvl="1"/>
            <a:r>
              <a:rPr lang="en-US" dirty="0"/>
              <a:t>Regulatory Reporting</a:t>
            </a:r>
          </a:p>
          <a:p>
            <a:r>
              <a:rPr lang="en-US" dirty="0"/>
              <a:t>SPADE3</a:t>
            </a:r>
          </a:p>
          <a:p>
            <a:pPr lvl="1"/>
            <a:r>
              <a:rPr lang="en-US" dirty="0"/>
              <a:t>CART: Field to elevator/Processor</a:t>
            </a:r>
          </a:p>
          <a:p>
            <a:pPr lvl="1"/>
            <a:r>
              <a:rPr lang="en-US" dirty="0"/>
              <a:t>Crop Nutrition</a:t>
            </a:r>
          </a:p>
          <a:p>
            <a:pPr lvl="1"/>
            <a:r>
              <a:rPr lang="en-US" dirty="0"/>
              <a:t>WAVE: Telematics</a:t>
            </a:r>
          </a:p>
          <a:p>
            <a:pPr lvl="1"/>
            <a:r>
              <a:rPr lang="en-US" dirty="0"/>
              <a:t>Scouting, Observations &amp; Measurements</a:t>
            </a:r>
          </a:p>
          <a:p>
            <a:pPr lvl="1"/>
            <a:r>
              <a:rPr lang="en-US" dirty="0"/>
              <a:t>Implementation guidelines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353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Telematics Standardization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on several efforts &amp; their focus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87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AgGateway – SPADE3: 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user stories</a:t>
            </a:r>
          </a:p>
          <a:p>
            <a:pPr lvl="1"/>
            <a:r>
              <a:rPr lang="en-US" dirty="0"/>
              <a:t>Dashboard and logistics</a:t>
            </a:r>
          </a:p>
          <a:p>
            <a:pPr lvl="2"/>
            <a:r>
              <a:rPr lang="en-US" dirty="0"/>
              <a:t>Single web UI for a farmer to monitor entire operation including fixed and mobile assets</a:t>
            </a:r>
          </a:p>
          <a:p>
            <a:pPr lvl="1"/>
            <a:r>
              <a:rPr lang="en-US" dirty="0"/>
              <a:t>Wireless task file transfer (work orders and work records) between machines &amp; back office/FMIS</a:t>
            </a:r>
          </a:p>
          <a:p>
            <a:pPr lvl="1"/>
            <a:r>
              <a:rPr lang="en-US" dirty="0"/>
              <a:t>Grain storage &amp; handling, remote monitoring of grain dryer</a:t>
            </a:r>
          </a:p>
          <a:p>
            <a:pPr lvl="1"/>
            <a:r>
              <a:rPr lang="en-US" dirty="0"/>
              <a:t>Subfield operational costs, breaking down work totals by management zones within a field for economic analysis</a:t>
            </a:r>
          </a:p>
          <a:p>
            <a:pPr lvl="1"/>
            <a:r>
              <a:rPr lang="en-US" dirty="0"/>
              <a:t>In field sensors (PAIL)</a:t>
            </a:r>
          </a:p>
          <a:p>
            <a:r>
              <a:rPr lang="en-US" dirty="0"/>
              <a:t>Identify standards coordinate other efforts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957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 User Stories to BPMN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41" y="1308318"/>
            <a:ext cx="11681011" cy="555001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078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 Data Buckets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data elements essentially matched ISO1183 DDI’s</a:t>
            </a:r>
          </a:p>
          <a:p>
            <a:r>
              <a:rPr lang="en-US" dirty="0"/>
              <a:t>PAIL project has list of required data elements</a:t>
            </a:r>
          </a:p>
          <a:p>
            <a:r>
              <a:rPr lang="en-US" dirty="0"/>
              <a:t>Finalizing list for remote grain storage &amp; conditioning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534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AEF PG9:FMIS, Sub-group EFDI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EFDI = Extended FMIS Data Interface</a:t>
            </a:r>
          </a:p>
          <a:p>
            <a:r>
              <a:rPr lang="en-US" dirty="0"/>
              <a:t>Machine to Cloud or Cloud to Cloud standard based on ISO11783</a:t>
            </a:r>
          </a:p>
          <a:p>
            <a:r>
              <a:rPr lang="en-US" dirty="0"/>
              <a:t>Focus on protocol for transferring data - </a:t>
            </a:r>
            <a:r>
              <a:rPr lang="en-US" dirty="0" err="1"/>
              <a:t>protobufs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7149" y="3004048"/>
            <a:ext cx="5614059" cy="385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50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AEM/AEMP 2.0 – ISO15143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Construction/mining focused standard</a:t>
            </a:r>
          </a:p>
          <a:p>
            <a:pPr lvl="1"/>
            <a:r>
              <a:rPr lang="en-US" dirty="0"/>
              <a:t>Started as AEMP(Association of Equipment Management Professionals) standard</a:t>
            </a:r>
          </a:p>
          <a:p>
            <a:pPr lvl="1"/>
            <a:r>
              <a:rPr lang="en-US" dirty="0"/>
              <a:t>AEM (Association of Equipment Manufacturers) helped promote </a:t>
            </a:r>
            <a:r>
              <a:rPr lang="en-US" dirty="0" err="1"/>
              <a:t>ver</a:t>
            </a:r>
            <a:r>
              <a:rPr lang="en-US" dirty="0"/>
              <a:t> 2.0 through ASABE to ISO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340" y="3036540"/>
            <a:ext cx="7149353" cy="382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84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OADA = Open Ag Data </a:t>
            </a:r>
            <a:r>
              <a:rPr lang="en-US" dirty="0" err="1"/>
              <a:t>Aliance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www.openag.io</a:t>
            </a:r>
            <a:r>
              <a:rPr lang="en-US" dirty="0"/>
              <a:t> </a:t>
            </a:r>
          </a:p>
          <a:p>
            <a:r>
              <a:rPr lang="en-US" dirty="0"/>
              <a:t>Coordinating with AgGateway, initial focus on authentication &amp; authorization</a:t>
            </a:r>
          </a:p>
          <a:p>
            <a:pPr lvl="1"/>
            <a:r>
              <a:rPr lang="en-US" dirty="0"/>
              <a:t>OAuth2 &amp; OpenID Connect Implementation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23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21411" y="1322616"/>
            <a:ext cx="8955464" cy="4965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31216" y="6400800"/>
            <a:ext cx="283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www.ADAPTFramework.org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1126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IOFF2020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EU Funded project that recently kicked off</a:t>
            </a:r>
          </a:p>
          <a:p>
            <a:r>
              <a:rPr lang="en-US" dirty="0"/>
              <a:t>Goals:</a:t>
            </a:r>
          </a:p>
          <a:p>
            <a:pPr lvl="1"/>
            <a:r>
              <a:rPr lang="en-US" dirty="0"/>
              <a:t>Demonstrate the business case of </a:t>
            </a:r>
            <a:r>
              <a:rPr lang="en-US" dirty="0" err="1"/>
              <a:t>IoT</a:t>
            </a:r>
            <a:r>
              <a:rPr lang="en-US" dirty="0"/>
              <a:t> for a large number of application areas in farming and food </a:t>
            </a:r>
          </a:p>
          <a:p>
            <a:pPr lvl="1"/>
            <a:r>
              <a:rPr lang="en-US" dirty="0"/>
              <a:t>Integrate and reuse available </a:t>
            </a:r>
            <a:r>
              <a:rPr lang="en-US" dirty="0" err="1"/>
              <a:t>IoT</a:t>
            </a:r>
            <a:r>
              <a:rPr lang="en-US" dirty="0"/>
              <a:t> technologies by exploiting open architectures and standards</a:t>
            </a:r>
          </a:p>
          <a:p>
            <a:pPr lvl="1"/>
            <a:r>
              <a:rPr lang="en-US" dirty="0"/>
              <a:t>Ensure user acceptability of </a:t>
            </a:r>
            <a:r>
              <a:rPr lang="en-US" dirty="0" err="1"/>
              <a:t>IoT</a:t>
            </a:r>
            <a:r>
              <a:rPr lang="en-US" dirty="0"/>
              <a:t> solutions in farming and food by addressing user needs, including security, privacy and trust 	</a:t>
            </a:r>
          </a:p>
          <a:p>
            <a:pPr lvl="1"/>
            <a:r>
              <a:rPr lang="en-US" dirty="0"/>
              <a:t>Ensure the sustainability of </a:t>
            </a:r>
            <a:r>
              <a:rPr lang="en-US" dirty="0" err="1"/>
              <a:t>IoT</a:t>
            </a:r>
            <a:r>
              <a:rPr lang="en-US" dirty="0"/>
              <a:t> solutions beyond the project by validating the related business models and setting up an </a:t>
            </a:r>
            <a:r>
              <a:rPr lang="en-US" dirty="0" err="1"/>
              <a:t>IoT</a:t>
            </a:r>
            <a:r>
              <a:rPr lang="en-US" dirty="0"/>
              <a:t> Ecosystem for large scale take-up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846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76800"/>
          </a:xfrm>
        </p:spPr>
        <p:txBody>
          <a:bodyPr/>
          <a:lstStyle/>
          <a:p>
            <a:r>
              <a:rPr lang="en-US" dirty="0"/>
              <a:t>Consortium founded by ~7 equipment manufacturers</a:t>
            </a:r>
          </a:p>
          <a:p>
            <a:pPr lvl="1"/>
            <a:r>
              <a:rPr lang="en-US" dirty="0"/>
              <a:t>Create central hub for data transfer</a:t>
            </a:r>
          </a:p>
          <a:p>
            <a:pPr lvl="1"/>
            <a:r>
              <a:rPr lang="en-US" dirty="0"/>
              <a:t>Plan to leverage industry standard API (if available)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36" name="Rectangle 135"/>
          <p:cNvSpPr/>
          <p:nvPr/>
        </p:nvSpPr>
        <p:spPr>
          <a:xfrm>
            <a:off x="1" y="3004392"/>
            <a:ext cx="12192000" cy="31510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33" y="2920339"/>
            <a:ext cx="6412974" cy="307483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356956" y="3030913"/>
            <a:ext cx="5735310" cy="2866653"/>
            <a:chOff x="-226325" y="932803"/>
            <a:chExt cx="13806062" cy="6621782"/>
          </a:xfrm>
        </p:grpSpPr>
        <p:grpSp>
          <p:nvGrpSpPr>
            <p:cNvPr id="8" name="Gruppieren 18"/>
            <p:cNvGrpSpPr/>
            <p:nvPr/>
          </p:nvGrpSpPr>
          <p:grpSpPr bwMode="gray">
            <a:xfrm>
              <a:off x="4147261" y="932803"/>
              <a:ext cx="5677920" cy="1434606"/>
              <a:chOff x="1624497" y="858375"/>
              <a:chExt cx="6159233" cy="1682806"/>
            </a:xfrm>
          </p:grpSpPr>
          <p:pic>
            <p:nvPicPr>
              <p:cNvPr id="125" name="Grafik 6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 flipH="1">
                <a:off x="1624497" y="1578276"/>
                <a:ext cx="659501" cy="427785"/>
              </a:xfrm>
              <a:prstGeom prst="rect">
                <a:avLst/>
              </a:prstGeom>
            </p:spPr>
          </p:pic>
          <p:pic>
            <p:nvPicPr>
              <p:cNvPr id="126" name="Grafik 7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6753051" y="1488287"/>
                <a:ext cx="1030679" cy="458742"/>
              </a:xfrm>
              <a:prstGeom prst="rect">
                <a:avLst/>
              </a:prstGeom>
            </p:spPr>
          </p:pic>
          <p:pic>
            <p:nvPicPr>
              <p:cNvPr id="127" name="Grafik 8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2680478" y="1474594"/>
                <a:ext cx="794281" cy="531467"/>
              </a:xfrm>
              <a:prstGeom prst="rect">
                <a:avLst/>
              </a:prstGeom>
            </p:spPr>
          </p:pic>
          <p:pic>
            <p:nvPicPr>
              <p:cNvPr id="128" name="Grafik 9"/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5595357" y="1489304"/>
                <a:ext cx="761214" cy="494221"/>
              </a:xfrm>
              <a:prstGeom prst="rect">
                <a:avLst/>
              </a:prstGeom>
            </p:spPr>
          </p:pic>
          <p:cxnSp>
            <p:nvCxnSpPr>
              <p:cNvPr id="129" name="Gerader Verbinder 11"/>
              <p:cNvCxnSpPr/>
              <p:nvPr/>
            </p:nvCxnSpPr>
            <p:spPr bwMode="gray">
              <a:xfrm flipV="1">
                <a:off x="3871239" y="1763983"/>
                <a:ext cx="1327638" cy="8792"/>
              </a:xfrm>
              <a:prstGeom prst="line">
                <a:avLst/>
              </a:prstGeom>
              <a:ln w="31750" cmpd="sng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Textfeld 12"/>
              <p:cNvSpPr txBox="1"/>
              <p:nvPr/>
            </p:nvSpPr>
            <p:spPr bwMode="gray">
              <a:xfrm>
                <a:off x="4199505" y="858375"/>
                <a:ext cx="914400" cy="914400"/>
              </a:xfrm>
              <a:prstGeom prst="rect">
                <a:avLst/>
              </a:prstGeom>
              <a:noFill/>
            </p:spPr>
            <p:txBody>
              <a:bodyPr vert="horz" wrap="none" lIns="72000" tIns="72000" rIns="72000" bIns="72000" rtlCol="0" anchor="ctr" anchorCtr="1">
                <a:noAutofit/>
              </a:bodyPr>
              <a:lstStyle/>
              <a:p>
                <a:r>
                  <a:rPr lang="en-US" sz="1100" dirty="0">
                    <a:solidFill>
                      <a:srgbClr val="006600"/>
                    </a:solidFill>
                  </a:rPr>
                  <a:t>Agricultural Machine Manufacturers</a:t>
                </a:r>
              </a:p>
              <a:p>
                <a:endParaRPr lang="en-US" sz="700" dirty="0">
                  <a:solidFill>
                    <a:srgbClr val="006600"/>
                  </a:solidFill>
                </a:endParaRPr>
              </a:p>
            </p:txBody>
          </p:sp>
          <p:sp>
            <p:nvSpPr>
              <p:cNvPr id="131" name="Ellipse 13"/>
              <p:cNvSpPr/>
              <p:nvPr/>
            </p:nvSpPr>
            <p:spPr bwMode="gray">
              <a:xfrm>
                <a:off x="1686290" y="2126511"/>
                <a:ext cx="438079" cy="414670"/>
              </a:xfrm>
              <a:prstGeom prst="ellipse">
                <a:avLst/>
              </a:prstGeom>
              <a:solidFill>
                <a:srgbClr val="00800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1</a:t>
                </a:r>
              </a:p>
            </p:txBody>
          </p:sp>
          <p:sp>
            <p:nvSpPr>
              <p:cNvPr id="132" name="Ellipse 14"/>
              <p:cNvSpPr/>
              <p:nvPr/>
            </p:nvSpPr>
            <p:spPr bwMode="gray">
              <a:xfrm>
                <a:off x="2858578" y="2126511"/>
                <a:ext cx="438079" cy="414670"/>
              </a:xfrm>
              <a:prstGeom prst="ellipse">
                <a:avLst/>
              </a:prstGeom>
              <a:solidFill>
                <a:srgbClr val="00800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2</a:t>
                </a:r>
              </a:p>
            </p:txBody>
          </p:sp>
          <p:cxnSp>
            <p:nvCxnSpPr>
              <p:cNvPr id="133" name="Gerader Verbinder 15"/>
              <p:cNvCxnSpPr/>
              <p:nvPr/>
            </p:nvCxnSpPr>
            <p:spPr bwMode="gray">
              <a:xfrm flipV="1">
                <a:off x="3871239" y="2325054"/>
                <a:ext cx="1327638" cy="8792"/>
              </a:xfrm>
              <a:prstGeom prst="line">
                <a:avLst/>
              </a:prstGeom>
              <a:ln w="31750" cmpd="sng">
                <a:solidFill>
                  <a:srgbClr val="008000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Ellipse 16"/>
              <p:cNvSpPr/>
              <p:nvPr/>
            </p:nvSpPr>
            <p:spPr bwMode="gray">
              <a:xfrm>
                <a:off x="5773459" y="2126511"/>
                <a:ext cx="462132" cy="414670"/>
              </a:xfrm>
              <a:prstGeom prst="ellipse">
                <a:avLst/>
              </a:prstGeom>
              <a:solidFill>
                <a:srgbClr val="00800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n-1</a:t>
                </a:r>
              </a:p>
            </p:txBody>
          </p:sp>
          <p:sp>
            <p:nvSpPr>
              <p:cNvPr id="135" name="Ellipse 17"/>
              <p:cNvSpPr/>
              <p:nvPr/>
            </p:nvSpPr>
            <p:spPr bwMode="gray">
              <a:xfrm>
                <a:off x="7049350" y="2126511"/>
                <a:ext cx="438079" cy="414670"/>
              </a:xfrm>
              <a:prstGeom prst="ellipse">
                <a:avLst/>
              </a:prstGeom>
              <a:solidFill>
                <a:srgbClr val="00800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n</a:t>
                </a:r>
              </a:p>
            </p:txBody>
          </p:sp>
        </p:grpSp>
        <p:grpSp>
          <p:nvGrpSpPr>
            <p:cNvPr id="9" name="Gruppieren 353"/>
            <p:cNvGrpSpPr/>
            <p:nvPr/>
          </p:nvGrpSpPr>
          <p:grpSpPr bwMode="gray">
            <a:xfrm>
              <a:off x="-226325" y="2304739"/>
              <a:ext cx="2308965" cy="1476152"/>
              <a:chOff x="-226325" y="2304739"/>
              <a:chExt cx="2308965" cy="1476152"/>
            </a:xfrm>
          </p:grpSpPr>
          <p:grpSp>
            <p:nvGrpSpPr>
              <p:cNvPr id="114" name="Gruppieren 46"/>
              <p:cNvGrpSpPr/>
              <p:nvPr/>
            </p:nvGrpSpPr>
            <p:grpSpPr bwMode="gray">
              <a:xfrm>
                <a:off x="-226325" y="2304739"/>
                <a:ext cx="2308965" cy="1476152"/>
                <a:chOff x="-121425" y="2807098"/>
                <a:chExt cx="2308965" cy="1476152"/>
              </a:xfrm>
            </p:grpSpPr>
            <p:sp>
              <p:nvSpPr>
                <p:cNvPr id="116" name="Textfeld 35"/>
                <p:cNvSpPr txBox="1"/>
                <p:nvPr/>
              </p:nvSpPr>
              <p:spPr bwMode="gray">
                <a:xfrm>
                  <a:off x="-121425" y="3304086"/>
                  <a:ext cx="2158230" cy="486306"/>
                </a:xfrm>
                <a:prstGeom prst="rect">
                  <a:avLst/>
                </a:prstGeom>
                <a:noFill/>
              </p:spPr>
              <p:txBody>
                <a:bodyPr vert="vert270" wrap="none" lIns="72000" tIns="72000" rIns="72000" bIns="72000" rtlCol="0" anchor="ctr" anchorCtr="1">
                  <a:noAutofit/>
                </a:bodyPr>
                <a:lstStyle>
                  <a:defPPr>
                    <a:defRPr lang="en-US"/>
                  </a:defPPr>
                  <a:lvl1pPr>
                    <a:defRPr sz="1100">
                      <a:latin typeface="Arial Rounded MT Bold" panose="020F0704030504030204" pitchFamily="34" charset="0"/>
                    </a:defRPr>
                  </a:lvl1pPr>
                </a:lstStyle>
                <a:p>
                  <a:r>
                    <a:rPr lang="en-US" dirty="0">
                      <a:solidFill>
                        <a:srgbClr val="00B0F0"/>
                      </a:solidFill>
                      <a:latin typeface="+mn-lt"/>
                    </a:rPr>
                    <a:t>Seed / Fertilizer /</a:t>
                  </a:r>
                </a:p>
                <a:p>
                  <a:r>
                    <a:rPr lang="en-US" dirty="0">
                      <a:solidFill>
                        <a:srgbClr val="00B0F0"/>
                      </a:solidFill>
                      <a:latin typeface="+mn-lt"/>
                    </a:rPr>
                    <a:t>Plant Protection</a:t>
                  </a:r>
                </a:p>
              </p:txBody>
            </p:sp>
            <p:grpSp>
              <p:nvGrpSpPr>
                <p:cNvPr id="117" name="Gruppieren 45"/>
                <p:cNvGrpSpPr/>
                <p:nvPr/>
              </p:nvGrpSpPr>
              <p:grpSpPr bwMode="gray">
                <a:xfrm>
                  <a:off x="1292750" y="2807098"/>
                  <a:ext cx="894790" cy="1476152"/>
                  <a:chOff x="1292750" y="2807098"/>
                  <a:chExt cx="894790" cy="1476152"/>
                </a:xfrm>
              </p:grpSpPr>
              <p:pic>
                <p:nvPicPr>
                  <p:cNvPr id="118" name="Grafik 30"/>
                  <p:cNvPicPr>
                    <a:picLocks noChangeAspect="1"/>
                  </p:cNvPicPr>
                  <p:nvPr/>
                </p:nvPicPr>
                <p:blipFill>
                  <a:blip r:embed="rId7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gray">
                  <a:xfrm>
                    <a:off x="1292750" y="2869768"/>
                    <a:ext cx="533400" cy="219075"/>
                  </a:xfrm>
                  <a:prstGeom prst="rect">
                    <a:avLst/>
                  </a:prstGeom>
                </p:spPr>
              </p:pic>
              <p:pic>
                <p:nvPicPr>
                  <p:cNvPr id="119" name="Grafik 31"/>
                  <p:cNvPicPr>
                    <a:picLocks noChangeAspect="1"/>
                  </p:cNvPicPr>
                  <p:nvPr/>
                </p:nvPicPr>
                <p:blipFill>
                  <a:blip r:embed="rId7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gray">
                  <a:xfrm>
                    <a:off x="1292750" y="3226955"/>
                    <a:ext cx="533400" cy="219075"/>
                  </a:xfrm>
                  <a:prstGeom prst="rect">
                    <a:avLst/>
                  </a:prstGeom>
                </p:spPr>
              </p:pic>
              <p:pic>
                <p:nvPicPr>
                  <p:cNvPr id="120" name="Grafik 32"/>
                  <p:cNvPicPr>
                    <a:picLocks noChangeAspect="1"/>
                  </p:cNvPicPr>
                  <p:nvPr/>
                </p:nvPicPr>
                <p:blipFill>
                  <a:blip r:embed="rId7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 bwMode="gray">
                  <a:xfrm>
                    <a:off x="1302273" y="3982199"/>
                    <a:ext cx="533400" cy="219075"/>
                  </a:xfrm>
                  <a:prstGeom prst="rect">
                    <a:avLst/>
                  </a:prstGeom>
                </p:spPr>
              </p:pic>
              <p:sp>
                <p:nvSpPr>
                  <p:cNvPr id="121" name="Ellipse 36"/>
                  <p:cNvSpPr/>
                  <p:nvPr/>
                </p:nvSpPr>
                <p:spPr bwMode="gray">
                  <a:xfrm>
                    <a:off x="1886069" y="2807098"/>
                    <a:ext cx="301471" cy="310999"/>
                  </a:xfrm>
                  <a:prstGeom prst="ellipse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31750">
                    <a:solidFill>
                      <a:srgbClr val="D9DFE4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cap="all" dirty="0"/>
                      <a:t>1</a:t>
                    </a:r>
                  </a:p>
                </p:txBody>
              </p:sp>
              <p:sp>
                <p:nvSpPr>
                  <p:cNvPr id="122" name="Ellipse 37"/>
                  <p:cNvSpPr/>
                  <p:nvPr/>
                </p:nvSpPr>
                <p:spPr bwMode="gray">
                  <a:xfrm rot="267039">
                    <a:off x="1886069" y="3219135"/>
                    <a:ext cx="301471" cy="310999"/>
                  </a:xfrm>
                  <a:prstGeom prst="ellipse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31750">
                    <a:solidFill>
                      <a:srgbClr val="D9DFE4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cap="all" dirty="0"/>
                      <a:t>2</a:t>
                    </a:r>
                  </a:p>
                </p:txBody>
              </p:sp>
              <p:sp>
                <p:nvSpPr>
                  <p:cNvPr id="123" name="Ellipse 38"/>
                  <p:cNvSpPr/>
                  <p:nvPr/>
                </p:nvSpPr>
                <p:spPr bwMode="gray">
                  <a:xfrm>
                    <a:off x="1886069" y="3972251"/>
                    <a:ext cx="301471" cy="310999"/>
                  </a:xfrm>
                  <a:prstGeom prst="ellipse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31750">
                    <a:solidFill>
                      <a:srgbClr val="D9DFE4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cap="all" dirty="0"/>
                      <a:t>S</a:t>
                    </a:r>
                  </a:p>
                </p:txBody>
              </p:sp>
              <p:cxnSp>
                <p:nvCxnSpPr>
                  <p:cNvPr id="124" name="Gerader Verbinder 39"/>
                  <p:cNvCxnSpPr>
                    <a:stCxn id="122" idx="4"/>
                  </p:cNvCxnSpPr>
                  <p:nvPr/>
                </p:nvCxnSpPr>
                <p:spPr bwMode="gray">
                  <a:xfrm flipH="1">
                    <a:off x="2019651" y="3529665"/>
                    <a:ext cx="5087" cy="441919"/>
                  </a:xfrm>
                  <a:prstGeom prst="line">
                    <a:avLst/>
                  </a:prstGeom>
                  <a:ln w="25400" cmpd="sng">
                    <a:solidFill>
                      <a:schemeClr val="accent3">
                        <a:lumMod val="60000"/>
                        <a:lumOff val="40000"/>
                      </a:schemeClr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15" name="Gerader Verbinder 52"/>
              <p:cNvCxnSpPr/>
              <p:nvPr/>
            </p:nvCxnSpPr>
            <p:spPr bwMode="gray">
              <a:xfrm>
                <a:off x="1452015" y="3027306"/>
                <a:ext cx="0" cy="442117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uppieren 61"/>
            <p:cNvGrpSpPr/>
            <p:nvPr/>
          </p:nvGrpSpPr>
          <p:grpSpPr bwMode="gray">
            <a:xfrm>
              <a:off x="383532" y="4321262"/>
              <a:ext cx="1684280" cy="1465042"/>
              <a:chOff x="383532" y="4321262"/>
              <a:chExt cx="1684280" cy="1465042"/>
            </a:xfrm>
          </p:grpSpPr>
          <p:pic>
            <p:nvPicPr>
              <p:cNvPr id="105" name="Grafik 47"/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1210512" y="4389533"/>
                <a:ext cx="483006" cy="182186"/>
              </a:xfrm>
              <a:prstGeom prst="rect">
                <a:avLst/>
              </a:prstGeom>
            </p:spPr>
          </p:pic>
          <p:sp>
            <p:nvSpPr>
              <p:cNvPr id="106" name="Textfeld 49"/>
              <p:cNvSpPr txBox="1"/>
              <p:nvPr/>
            </p:nvSpPr>
            <p:spPr bwMode="gray">
              <a:xfrm>
                <a:off x="383532" y="4506189"/>
                <a:ext cx="914400" cy="914400"/>
              </a:xfrm>
              <a:prstGeom prst="rect">
                <a:avLst/>
              </a:prstGeom>
              <a:noFill/>
            </p:spPr>
            <p:txBody>
              <a:bodyPr vert="vert270" wrap="none" lIns="72000" tIns="72000" rIns="72000" bIns="72000" rtlCol="0" anchor="ctr" anchorCtr="1">
                <a:noAutofit/>
              </a:bodyPr>
              <a:lstStyle/>
              <a:p>
                <a:pPr algn="ctr"/>
                <a:r>
                  <a:rPr lang="en-US" sz="1100" dirty="0">
                    <a:solidFill>
                      <a:schemeClr val="bg1">
                        <a:lumMod val="65000"/>
                      </a:schemeClr>
                    </a:solidFill>
                  </a:rPr>
                  <a:t>External Service</a:t>
                </a:r>
              </a:p>
              <a:p>
                <a:pPr algn="ctr"/>
                <a:r>
                  <a:rPr lang="en-US" sz="1100" dirty="0">
                    <a:solidFill>
                      <a:schemeClr val="bg1">
                        <a:lumMod val="65000"/>
                      </a:schemeClr>
                    </a:solidFill>
                  </a:rPr>
                  <a:t>Provider</a:t>
                </a:r>
              </a:p>
            </p:txBody>
          </p:sp>
          <p:pic>
            <p:nvPicPr>
              <p:cNvPr id="107" name="Grafik 50"/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1210512" y="4793740"/>
                <a:ext cx="483006" cy="182186"/>
              </a:xfrm>
              <a:prstGeom prst="rect">
                <a:avLst/>
              </a:prstGeom>
            </p:spPr>
          </p:pic>
          <p:pic>
            <p:nvPicPr>
              <p:cNvPr id="108" name="Grafik 51"/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1199879" y="5517612"/>
                <a:ext cx="483006" cy="182186"/>
              </a:xfrm>
              <a:prstGeom prst="rect">
                <a:avLst/>
              </a:prstGeom>
            </p:spPr>
          </p:pic>
          <p:sp>
            <p:nvSpPr>
              <p:cNvPr id="109" name="Ellipse 54"/>
              <p:cNvSpPr/>
              <p:nvPr/>
            </p:nvSpPr>
            <p:spPr bwMode="gray">
              <a:xfrm>
                <a:off x="1755711" y="4321262"/>
                <a:ext cx="301471" cy="31099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1</a:t>
                </a:r>
              </a:p>
            </p:txBody>
          </p:sp>
          <p:sp>
            <p:nvSpPr>
              <p:cNvPr id="110" name="Ellipse 55"/>
              <p:cNvSpPr/>
              <p:nvPr/>
            </p:nvSpPr>
            <p:spPr bwMode="gray">
              <a:xfrm rot="267039">
                <a:off x="1766341" y="4738025"/>
                <a:ext cx="301471" cy="31099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2</a:t>
                </a:r>
              </a:p>
            </p:txBody>
          </p:sp>
          <p:sp>
            <p:nvSpPr>
              <p:cNvPr id="111" name="Ellipse 56"/>
              <p:cNvSpPr/>
              <p:nvPr/>
            </p:nvSpPr>
            <p:spPr bwMode="gray">
              <a:xfrm>
                <a:off x="1766340" y="5475305"/>
                <a:ext cx="301471" cy="310999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P</a:t>
                </a:r>
              </a:p>
            </p:txBody>
          </p:sp>
          <p:cxnSp>
            <p:nvCxnSpPr>
              <p:cNvPr id="112" name="Gerader Verbinder 57"/>
              <p:cNvCxnSpPr>
                <a:stCxn id="110" idx="4"/>
              </p:cNvCxnSpPr>
              <p:nvPr/>
            </p:nvCxnSpPr>
            <p:spPr bwMode="gray">
              <a:xfrm flipH="1">
                <a:off x="1899923" y="5048555"/>
                <a:ext cx="5087" cy="441919"/>
              </a:xfrm>
              <a:prstGeom prst="line">
                <a:avLst/>
              </a:prstGeom>
              <a:ln w="25400" cmpd="sng">
                <a:solidFill>
                  <a:schemeClr val="bg1">
                    <a:lumMod val="7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60"/>
              <p:cNvCxnSpPr/>
              <p:nvPr/>
            </p:nvCxnSpPr>
            <p:spPr bwMode="gray">
              <a:xfrm>
                <a:off x="1452015" y="5048555"/>
                <a:ext cx="0" cy="442117"/>
              </a:xfrm>
              <a:prstGeom prst="line">
                <a:avLst/>
              </a:prstGeom>
              <a:ln w="25400" cmpd="sng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uppieren 84"/>
            <p:cNvGrpSpPr/>
            <p:nvPr/>
          </p:nvGrpSpPr>
          <p:grpSpPr bwMode="gray">
            <a:xfrm>
              <a:off x="11817505" y="2304739"/>
              <a:ext cx="1762232" cy="1537029"/>
              <a:chOff x="11817505" y="2570130"/>
              <a:chExt cx="1762232" cy="1537029"/>
            </a:xfrm>
          </p:grpSpPr>
          <p:grpSp>
            <p:nvGrpSpPr>
              <p:cNvPr id="95" name="Gruppieren 75"/>
              <p:cNvGrpSpPr/>
              <p:nvPr/>
            </p:nvGrpSpPr>
            <p:grpSpPr bwMode="gray">
              <a:xfrm>
                <a:off x="12261308" y="2570130"/>
                <a:ext cx="1318429" cy="1537029"/>
                <a:chOff x="12261308" y="2243733"/>
                <a:chExt cx="1318429" cy="1537029"/>
              </a:xfrm>
            </p:grpSpPr>
            <p:sp>
              <p:nvSpPr>
                <p:cNvPr id="100" name="Textfeld 66"/>
                <p:cNvSpPr txBox="1"/>
                <p:nvPr/>
              </p:nvSpPr>
              <p:spPr bwMode="gray">
                <a:xfrm>
                  <a:off x="12624788" y="2243733"/>
                  <a:ext cx="954949" cy="1537029"/>
                </a:xfrm>
                <a:prstGeom prst="rect">
                  <a:avLst/>
                </a:prstGeom>
                <a:noFill/>
              </p:spPr>
              <p:txBody>
                <a:bodyPr vert="vert270" wrap="square" lIns="81647" tIns="81647" rIns="81647" bIns="81647" rtlCol="0" anchor="ctr" anchorCtr="1">
                  <a:noAutofit/>
                </a:bodyPr>
                <a:lstStyle/>
                <a:p>
                  <a:pPr algn="ctr" defTabSz="1036930"/>
                  <a:r>
                    <a:rPr lang="en-US" sz="11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Weigh Bridges</a:t>
                  </a:r>
                </a:p>
              </p:txBody>
            </p:sp>
            <p:cxnSp>
              <p:nvCxnSpPr>
                <p:cNvPr id="101" name="Gerader Verbinder 67"/>
                <p:cNvCxnSpPr/>
                <p:nvPr/>
              </p:nvCxnSpPr>
              <p:spPr bwMode="gray">
                <a:xfrm>
                  <a:off x="12543273" y="3039004"/>
                  <a:ext cx="0" cy="442117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  <a:prstDash val="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2" name="Grafik 69"/>
                <p:cNvPicPr>
                  <a:picLocks noChangeAspect="1"/>
                </p:cNvPicPr>
                <p:nvPr/>
              </p:nvPicPr>
              <p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12263398" y="2408274"/>
                  <a:ext cx="559775" cy="188336"/>
                </a:xfrm>
                <a:prstGeom prst="rect">
                  <a:avLst/>
                </a:prstGeom>
              </p:spPr>
            </p:pic>
            <p:pic>
              <p:nvPicPr>
                <p:cNvPr id="103" name="Grafik 70"/>
                <p:cNvPicPr>
                  <a:picLocks noChangeAspect="1"/>
                </p:cNvPicPr>
                <p:nvPr/>
              </p:nvPicPr>
              <p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12263499" y="2739444"/>
                  <a:ext cx="559775" cy="188336"/>
                </a:xfrm>
                <a:prstGeom prst="rect">
                  <a:avLst/>
                </a:prstGeom>
              </p:spPr>
            </p:pic>
            <p:pic>
              <p:nvPicPr>
                <p:cNvPr id="104" name="Grafik 71"/>
                <p:cNvPicPr>
                  <a:picLocks noChangeAspect="1"/>
                </p:cNvPicPr>
                <p:nvPr/>
              </p:nvPicPr>
              <p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12261308" y="3507507"/>
                  <a:ext cx="559775" cy="188336"/>
                </a:xfrm>
                <a:prstGeom prst="rect">
                  <a:avLst/>
                </a:prstGeom>
              </p:spPr>
            </p:pic>
          </p:grpSp>
          <p:sp>
            <p:nvSpPr>
              <p:cNvPr id="96" name="Ellipse 76"/>
              <p:cNvSpPr/>
              <p:nvPr/>
            </p:nvSpPr>
            <p:spPr bwMode="gray">
              <a:xfrm>
                <a:off x="11817505" y="2682017"/>
                <a:ext cx="301471" cy="31099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1</a:t>
                </a:r>
              </a:p>
            </p:txBody>
          </p:sp>
          <p:sp>
            <p:nvSpPr>
              <p:cNvPr id="97" name="Ellipse 77"/>
              <p:cNvSpPr/>
              <p:nvPr/>
            </p:nvSpPr>
            <p:spPr bwMode="gray">
              <a:xfrm rot="267039">
                <a:off x="11817505" y="3038268"/>
                <a:ext cx="301471" cy="31099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2</a:t>
                </a:r>
              </a:p>
            </p:txBody>
          </p:sp>
          <p:sp>
            <p:nvSpPr>
              <p:cNvPr id="98" name="Ellipse 78"/>
              <p:cNvSpPr/>
              <p:nvPr/>
            </p:nvSpPr>
            <p:spPr bwMode="gray">
              <a:xfrm>
                <a:off x="11817505" y="3772572"/>
                <a:ext cx="301471" cy="31099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W</a:t>
                </a:r>
              </a:p>
            </p:txBody>
          </p:sp>
          <p:cxnSp>
            <p:nvCxnSpPr>
              <p:cNvPr id="99" name="Gerader Verbinder 79"/>
              <p:cNvCxnSpPr/>
              <p:nvPr/>
            </p:nvCxnSpPr>
            <p:spPr bwMode="gray">
              <a:xfrm>
                <a:off x="11967627" y="3348798"/>
                <a:ext cx="1226" cy="441919"/>
              </a:xfrm>
              <a:prstGeom prst="line">
                <a:avLst/>
              </a:prstGeom>
              <a:ln w="25400" cmpd="sng">
                <a:solidFill>
                  <a:schemeClr val="accent5">
                    <a:lumMod val="7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uppieren 85"/>
            <p:cNvGrpSpPr/>
            <p:nvPr/>
          </p:nvGrpSpPr>
          <p:grpSpPr bwMode="gray">
            <a:xfrm>
              <a:off x="11832288" y="4400739"/>
              <a:ext cx="1743852" cy="1563882"/>
              <a:chOff x="11832288" y="4597045"/>
              <a:chExt cx="1743852" cy="1563882"/>
            </a:xfrm>
          </p:grpSpPr>
          <p:grpSp>
            <p:nvGrpSpPr>
              <p:cNvPr id="85" name="Gruppieren 74"/>
              <p:cNvGrpSpPr/>
              <p:nvPr/>
            </p:nvGrpSpPr>
            <p:grpSpPr bwMode="gray">
              <a:xfrm>
                <a:off x="12261308" y="4620531"/>
                <a:ext cx="1314832" cy="1540396"/>
                <a:chOff x="12264904" y="4150372"/>
                <a:chExt cx="1314832" cy="1540396"/>
              </a:xfrm>
            </p:grpSpPr>
            <p:pic>
              <p:nvPicPr>
                <p:cNvPr id="90" name="Grafik 27"/>
                <p:cNvPicPr>
                  <a:picLocks noChangeAspect="1"/>
                </p:cNvPicPr>
                <p:nvPr/>
              </p:nvPicPr>
              <p:blipFill>
                <a:blip r:embed="rId1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12277851" y="4150372"/>
                  <a:ext cx="556762" cy="318149"/>
                </a:xfrm>
                <a:prstGeom prst="rect">
                  <a:avLst/>
                </a:prstGeom>
              </p:spPr>
            </p:pic>
            <p:sp>
              <p:nvSpPr>
                <p:cNvPr id="91" name="Textfeld 34"/>
                <p:cNvSpPr txBox="1"/>
                <p:nvPr/>
              </p:nvSpPr>
              <p:spPr bwMode="gray">
                <a:xfrm>
                  <a:off x="12624787" y="4153739"/>
                  <a:ext cx="954949" cy="1537029"/>
                </a:xfrm>
                <a:prstGeom prst="rect">
                  <a:avLst/>
                </a:prstGeom>
                <a:noFill/>
              </p:spPr>
              <p:txBody>
                <a:bodyPr vert="vert270" wrap="square" lIns="81647" tIns="81647" rIns="81647" bIns="81647" rtlCol="0" anchor="ctr" anchorCtr="1">
                  <a:noAutofit/>
                </a:bodyPr>
                <a:lstStyle/>
                <a:p>
                  <a:pPr algn="ctr" defTabSz="1036930"/>
                  <a:r>
                    <a:rPr lang="en-US" sz="1100" dirty="0">
                      <a:solidFill>
                        <a:srgbClr val="0070C0"/>
                      </a:solidFill>
                    </a:rPr>
                    <a:t>Food</a:t>
                  </a:r>
                  <a:r>
                    <a:rPr lang="en-US" sz="1361" b="1" dirty="0">
                      <a:solidFill>
                        <a:srgbClr val="0070C0"/>
                      </a:solidFill>
                    </a:rPr>
                    <a:t> </a:t>
                  </a:r>
                  <a:r>
                    <a:rPr lang="en-US" sz="1100" dirty="0">
                      <a:solidFill>
                        <a:srgbClr val="0070C0"/>
                      </a:solidFill>
                    </a:rPr>
                    <a:t>Processing</a:t>
                  </a:r>
                </a:p>
              </p:txBody>
            </p:sp>
            <p:cxnSp>
              <p:nvCxnSpPr>
                <p:cNvPr id="92" name="Gerader Verbinder 62"/>
                <p:cNvCxnSpPr/>
                <p:nvPr/>
              </p:nvCxnSpPr>
              <p:spPr bwMode="gray">
                <a:xfrm>
                  <a:off x="12572857" y="4893524"/>
                  <a:ext cx="0" cy="442117"/>
                </a:xfrm>
                <a:prstGeom prst="line">
                  <a:avLst/>
                </a:prstGeom>
                <a:ln w="25400" cmpd="sng">
                  <a:solidFill>
                    <a:schemeClr val="tx1"/>
                  </a:solidFill>
                  <a:prstDash val="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93" name="Grafik 72"/>
                <p:cNvPicPr>
                  <a:picLocks noChangeAspect="1"/>
                </p:cNvPicPr>
                <p:nvPr/>
              </p:nvPicPr>
              <p:blipFill>
                <a:blip r:embed="rId1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12264904" y="4548989"/>
                  <a:ext cx="556762" cy="318149"/>
                </a:xfrm>
                <a:prstGeom prst="rect">
                  <a:avLst/>
                </a:prstGeom>
              </p:spPr>
            </p:pic>
            <p:pic>
              <p:nvPicPr>
                <p:cNvPr id="94" name="Grafik 73"/>
                <p:cNvPicPr>
                  <a:picLocks noChangeAspect="1"/>
                </p:cNvPicPr>
                <p:nvPr/>
              </p:nvPicPr>
              <p:blipFill>
                <a:blip r:embed="rId1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gray">
                <a:xfrm>
                  <a:off x="12264904" y="5316230"/>
                  <a:ext cx="556762" cy="318149"/>
                </a:xfrm>
                <a:prstGeom prst="rect">
                  <a:avLst/>
                </a:prstGeom>
              </p:spPr>
            </p:pic>
          </p:grpSp>
          <p:sp>
            <p:nvSpPr>
              <p:cNvPr id="86" name="Ellipse 80"/>
              <p:cNvSpPr/>
              <p:nvPr/>
            </p:nvSpPr>
            <p:spPr bwMode="gray">
              <a:xfrm>
                <a:off x="11832288" y="4597045"/>
                <a:ext cx="301471" cy="310999"/>
              </a:xfrm>
              <a:prstGeom prst="ellipse">
                <a:avLst/>
              </a:prstGeom>
              <a:solidFill>
                <a:srgbClr val="0070C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1</a:t>
                </a:r>
              </a:p>
            </p:txBody>
          </p:sp>
          <p:sp>
            <p:nvSpPr>
              <p:cNvPr id="87" name="Ellipse 81"/>
              <p:cNvSpPr/>
              <p:nvPr/>
            </p:nvSpPr>
            <p:spPr bwMode="gray">
              <a:xfrm rot="267039">
                <a:off x="11832288" y="5009082"/>
                <a:ext cx="301471" cy="310999"/>
              </a:xfrm>
              <a:prstGeom prst="ellipse">
                <a:avLst/>
              </a:prstGeom>
              <a:solidFill>
                <a:srgbClr val="0070C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2</a:t>
                </a:r>
              </a:p>
            </p:txBody>
          </p:sp>
          <p:sp>
            <p:nvSpPr>
              <p:cNvPr id="88" name="Ellipse 82"/>
              <p:cNvSpPr/>
              <p:nvPr/>
            </p:nvSpPr>
            <p:spPr bwMode="gray">
              <a:xfrm>
                <a:off x="11832288" y="5762198"/>
                <a:ext cx="301471" cy="310999"/>
              </a:xfrm>
              <a:prstGeom prst="ellipse">
                <a:avLst/>
              </a:prstGeom>
              <a:solidFill>
                <a:srgbClr val="0070C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 b="1" cap="all" dirty="0"/>
                  <a:t>Z</a:t>
                </a:r>
              </a:p>
            </p:txBody>
          </p:sp>
          <p:cxnSp>
            <p:nvCxnSpPr>
              <p:cNvPr id="89" name="Gerader Verbinder 83"/>
              <p:cNvCxnSpPr/>
              <p:nvPr/>
            </p:nvCxnSpPr>
            <p:spPr bwMode="gray">
              <a:xfrm flipH="1">
                <a:off x="11980480" y="5319612"/>
                <a:ext cx="5086" cy="441919"/>
              </a:xfrm>
              <a:prstGeom prst="line">
                <a:avLst/>
              </a:prstGeom>
              <a:ln w="25400" cmpd="sng">
                <a:solidFill>
                  <a:srgbClr val="0070C0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uppieren 125"/>
            <p:cNvGrpSpPr/>
            <p:nvPr/>
          </p:nvGrpSpPr>
          <p:grpSpPr bwMode="gray">
            <a:xfrm>
              <a:off x="2708198" y="6029736"/>
              <a:ext cx="1198147" cy="1524849"/>
              <a:chOff x="2888951" y="5721391"/>
              <a:chExt cx="1198147" cy="1524849"/>
            </a:xfrm>
          </p:grpSpPr>
          <p:pic>
            <p:nvPicPr>
              <p:cNvPr id="78" name="Grafik 21"/>
              <p:cNvPicPr>
                <a:picLocks noChangeAspect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3230849" y="6203634"/>
                <a:ext cx="514350" cy="447675"/>
              </a:xfrm>
              <a:prstGeom prst="rect">
                <a:avLst/>
              </a:prstGeom>
            </p:spPr>
          </p:pic>
          <p:sp>
            <p:nvSpPr>
              <p:cNvPr id="79" name="Textfeld 25"/>
              <p:cNvSpPr txBox="1"/>
              <p:nvPr/>
            </p:nvSpPr>
            <p:spPr bwMode="gray">
              <a:xfrm>
                <a:off x="3030824" y="6331840"/>
                <a:ext cx="914400" cy="914400"/>
              </a:xfrm>
              <a:prstGeom prst="rect">
                <a:avLst/>
              </a:prstGeom>
              <a:noFill/>
            </p:spPr>
            <p:txBody>
              <a:bodyPr vert="horz" wrap="none" lIns="72000" tIns="72000" rIns="72000" bIns="72000" rtlCol="0" anchor="ctr" anchorCtr="1">
                <a:noAutofit/>
              </a:bodyPr>
              <a:lstStyle/>
              <a:p>
                <a:pPr algn="ctr"/>
                <a:r>
                  <a:rPr lang="en-US" sz="1100" dirty="0">
                    <a:solidFill>
                      <a:srgbClr val="993300"/>
                    </a:solidFill>
                  </a:rPr>
                  <a:t>Dealer &amp; </a:t>
                </a:r>
              </a:p>
              <a:p>
                <a:pPr algn="ctr"/>
                <a:r>
                  <a:rPr lang="en-US" sz="1100" dirty="0">
                    <a:solidFill>
                      <a:srgbClr val="993300"/>
                    </a:solidFill>
                  </a:rPr>
                  <a:t>Machine Service</a:t>
                </a:r>
              </a:p>
            </p:txBody>
          </p:sp>
          <p:grpSp>
            <p:nvGrpSpPr>
              <p:cNvPr id="80" name="Gruppieren 120"/>
              <p:cNvGrpSpPr/>
              <p:nvPr/>
            </p:nvGrpSpPr>
            <p:grpSpPr bwMode="gray">
              <a:xfrm>
                <a:off x="2888951" y="5721391"/>
                <a:ext cx="1198147" cy="322228"/>
                <a:chOff x="2888951" y="5818916"/>
                <a:chExt cx="1198147" cy="322228"/>
              </a:xfrm>
            </p:grpSpPr>
            <p:cxnSp>
              <p:nvCxnSpPr>
                <p:cNvPr id="81" name="Gerader Verbinder 89"/>
                <p:cNvCxnSpPr/>
                <p:nvPr/>
              </p:nvCxnSpPr>
              <p:spPr bwMode="gray">
                <a:xfrm>
                  <a:off x="3662180" y="5983372"/>
                  <a:ext cx="309619" cy="0"/>
                </a:xfrm>
                <a:prstGeom prst="line">
                  <a:avLst/>
                </a:prstGeom>
                <a:ln w="25400" cmpd="sng">
                  <a:solidFill>
                    <a:srgbClr val="993300"/>
                  </a:solidFill>
                  <a:prstDash val="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Ellipse 86"/>
                <p:cNvSpPr/>
                <p:nvPr/>
              </p:nvSpPr>
              <p:spPr bwMode="gray">
                <a:xfrm>
                  <a:off x="2888951" y="5818916"/>
                  <a:ext cx="301471" cy="310999"/>
                </a:xfrm>
                <a:prstGeom prst="ellipse">
                  <a:avLst/>
                </a:prstGeom>
                <a:solidFill>
                  <a:srgbClr val="993300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1</a:t>
                  </a:r>
                </a:p>
              </p:txBody>
            </p:sp>
            <p:sp>
              <p:nvSpPr>
                <p:cNvPr id="83" name="Ellipse 87"/>
                <p:cNvSpPr/>
                <p:nvPr/>
              </p:nvSpPr>
              <p:spPr bwMode="gray">
                <a:xfrm rot="267039">
                  <a:off x="3286582" y="5830145"/>
                  <a:ext cx="301471" cy="310999"/>
                </a:xfrm>
                <a:prstGeom prst="ellipse">
                  <a:avLst/>
                </a:prstGeom>
                <a:solidFill>
                  <a:srgbClr val="993300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2</a:t>
                  </a:r>
                </a:p>
              </p:txBody>
            </p:sp>
            <p:sp>
              <p:nvSpPr>
                <p:cNvPr id="84" name="Ellipse 88"/>
                <p:cNvSpPr/>
                <p:nvPr/>
              </p:nvSpPr>
              <p:spPr bwMode="gray">
                <a:xfrm>
                  <a:off x="3785627" y="5818916"/>
                  <a:ext cx="301471" cy="310999"/>
                </a:xfrm>
                <a:prstGeom prst="ellipse">
                  <a:avLst/>
                </a:prstGeom>
                <a:solidFill>
                  <a:srgbClr val="993300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D</a:t>
                  </a:r>
                </a:p>
              </p:txBody>
            </p:sp>
          </p:grpSp>
        </p:grpSp>
        <p:sp>
          <p:nvSpPr>
            <p:cNvPr id="14" name="Textfeld 24"/>
            <p:cNvSpPr txBox="1"/>
            <p:nvPr/>
          </p:nvSpPr>
          <p:spPr bwMode="gray">
            <a:xfrm>
              <a:off x="4595959" y="6640185"/>
              <a:ext cx="914400" cy="914400"/>
            </a:xfrm>
            <a:prstGeom prst="rect">
              <a:avLst/>
            </a:prstGeom>
            <a:noFill/>
          </p:spPr>
          <p:txBody>
            <a:bodyPr vert="horz" wrap="none" lIns="72000" tIns="72000" rIns="72000" bIns="72000" rtlCol="0" anchor="ctr" anchorCtr="1">
              <a:noAutofit/>
            </a:bodyPr>
            <a:lstStyle/>
            <a:p>
              <a:pPr algn="ctr"/>
              <a:r>
                <a:rPr lang="en-US" sz="1100" dirty="0">
                  <a:solidFill>
                    <a:srgbClr val="FF5050"/>
                  </a:solidFill>
                </a:rPr>
                <a:t>Contractor</a:t>
              </a:r>
            </a:p>
          </p:txBody>
        </p:sp>
        <p:grpSp>
          <p:nvGrpSpPr>
            <p:cNvPr id="15" name="Gruppieren 121"/>
            <p:cNvGrpSpPr/>
            <p:nvPr/>
          </p:nvGrpSpPr>
          <p:grpSpPr bwMode="gray">
            <a:xfrm>
              <a:off x="4454086" y="6029736"/>
              <a:ext cx="1198147" cy="322228"/>
              <a:chOff x="4452837" y="5797179"/>
              <a:chExt cx="1198147" cy="322228"/>
            </a:xfrm>
          </p:grpSpPr>
          <p:cxnSp>
            <p:nvCxnSpPr>
              <p:cNvPr id="74" name="Gerader Verbinder 103"/>
              <p:cNvCxnSpPr/>
              <p:nvPr/>
            </p:nvCxnSpPr>
            <p:spPr bwMode="gray">
              <a:xfrm>
                <a:off x="5226066" y="5961635"/>
                <a:ext cx="309619" cy="0"/>
              </a:xfrm>
              <a:prstGeom prst="line">
                <a:avLst/>
              </a:prstGeom>
              <a:ln w="25400" cmpd="sng">
                <a:solidFill>
                  <a:srgbClr val="FF5050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Ellipse 104"/>
              <p:cNvSpPr/>
              <p:nvPr/>
            </p:nvSpPr>
            <p:spPr bwMode="gray">
              <a:xfrm>
                <a:off x="4452837" y="5797179"/>
                <a:ext cx="301471" cy="310999"/>
              </a:xfrm>
              <a:prstGeom prst="ellipse">
                <a:avLst/>
              </a:prstGeom>
              <a:solidFill>
                <a:srgbClr val="FF505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cap="all" dirty="0"/>
                  <a:t>1</a:t>
                </a:r>
              </a:p>
            </p:txBody>
          </p:sp>
          <p:sp>
            <p:nvSpPr>
              <p:cNvPr id="76" name="Ellipse 105"/>
              <p:cNvSpPr/>
              <p:nvPr/>
            </p:nvSpPr>
            <p:spPr bwMode="gray">
              <a:xfrm rot="267039">
                <a:off x="4850468" y="5808408"/>
                <a:ext cx="301471" cy="310999"/>
              </a:xfrm>
              <a:prstGeom prst="ellipse">
                <a:avLst/>
              </a:prstGeom>
              <a:solidFill>
                <a:srgbClr val="FF505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cap="all" dirty="0"/>
                  <a:t>2</a:t>
                </a:r>
              </a:p>
            </p:txBody>
          </p:sp>
          <p:sp>
            <p:nvSpPr>
              <p:cNvPr id="77" name="Ellipse 106"/>
              <p:cNvSpPr/>
              <p:nvPr/>
            </p:nvSpPr>
            <p:spPr bwMode="gray">
              <a:xfrm>
                <a:off x="5349513" y="5797179"/>
                <a:ext cx="301471" cy="310999"/>
              </a:xfrm>
              <a:prstGeom prst="ellipse">
                <a:avLst/>
              </a:prstGeom>
              <a:solidFill>
                <a:srgbClr val="FF5050"/>
              </a:solidFill>
              <a:ln w="31750">
                <a:solidFill>
                  <a:srgbClr val="D9DFE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100" b="1" cap="all" dirty="0"/>
                  <a:t>C</a:t>
                </a:r>
              </a:p>
            </p:txBody>
          </p:sp>
        </p:grpSp>
        <p:grpSp>
          <p:nvGrpSpPr>
            <p:cNvPr id="16" name="Gruppieren 127"/>
            <p:cNvGrpSpPr/>
            <p:nvPr/>
          </p:nvGrpSpPr>
          <p:grpSpPr bwMode="gray">
            <a:xfrm>
              <a:off x="6199974" y="6029736"/>
              <a:ext cx="1198147" cy="1524849"/>
              <a:chOff x="6280114" y="5721391"/>
              <a:chExt cx="1198147" cy="1524849"/>
            </a:xfrm>
          </p:grpSpPr>
          <p:pic>
            <p:nvPicPr>
              <p:cNvPr id="67" name="Grafik 19"/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6541050" y="6151246"/>
                <a:ext cx="676275" cy="552450"/>
              </a:xfrm>
              <a:prstGeom prst="rect">
                <a:avLst/>
              </a:prstGeom>
            </p:spPr>
          </p:pic>
          <p:sp>
            <p:nvSpPr>
              <p:cNvPr id="68" name="Textfeld 23"/>
              <p:cNvSpPr txBox="1"/>
              <p:nvPr/>
            </p:nvSpPr>
            <p:spPr bwMode="gray">
              <a:xfrm>
                <a:off x="6421987" y="6331840"/>
                <a:ext cx="914400" cy="914400"/>
              </a:xfrm>
              <a:prstGeom prst="rect">
                <a:avLst/>
              </a:prstGeom>
              <a:noFill/>
            </p:spPr>
            <p:txBody>
              <a:bodyPr vert="horz" wrap="none" lIns="72000" tIns="72000" rIns="72000" bIns="72000" rtlCol="0" anchor="ctr" anchorCtr="1">
                <a:noAutofit/>
              </a:bodyPr>
              <a:lstStyle/>
              <a:p>
                <a:pPr algn="ctr"/>
                <a:r>
                  <a:rPr lang="en-US" sz="1100" dirty="0">
                    <a:solidFill>
                      <a:srgbClr val="8EC000"/>
                    </a:solidFill>
                  </a:rPr>
                  <a:t>Farmer</a:t>
                </a:r>
              </a:p>
            </p:txBody>
          </p:sp>
          <p:grpSp>
            <p:nvGrpSpPr>
              <p:cNvPr id="69" name="Gruppieren 122"/>
              <p:cNvGrpSpPr/>
              <p:nvPr/>
            </p:nvGrpSpPr>
            <p:grpSpPr bwMode="gray">
              <a:xfrm>
                <a:off x="6280114" y="5721391"/>
                <a:ext cx="1198147" cy="322228"/>
                <a:chOff x="6280114" y="5752732"/>
                <a:chExt cx="1198147" cy="322228"/>
              </a:xfrm>
            </p:grpSpPr>
            <p:cxnSp>
              <p:nvCxnSpPr>
                <p:cNvPr id="70" name="Gerader Verbinder 107"/>
                <p:cNvCxnSpPr/>
                <p:nvPr/>
              </p:nvCxnSpPr>
              <p:spPr bwMode="gray">
                <a:xfrm>
                  <a:off x="7053343" y="5917188"/>
                  <a:ext cx="309619" cy="0"/>
                </a:xfrm>
                <a:prstGeom prst="line">
                  <a:avLst/>
                </a:prstGeom>
                <a:ln w="25400" cmpd="sng">
                  <a:solidFill>
                    <a:srgbClr val="8EC000"/>
                  </a:solidFill>
                  <a:prstDash val="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Ellipse 108"/>
                <p:cNvSpPr/>
                <p:nvPr/>
              </p:nvSpPr>
              <p:spPr bwMode="gray">
                <a:xfrm>
                  <a:off x="6280114" y="5752732"/>
                  <a:ext cx="301471" cy="310999"/>
                </a:xfrm>
                <a:prstGeom prst="ellipse">
                  <a:avLst/>
                </a:prstGeom>
                <a:solidFill>
                  <a:srgbClr val="8EC000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1</a:t>
                  </a:r>
                </a:p>
              </p:txBody>
            </p:sp>
            <p:sp>
              <p:nvSpPr>
                <p:cNvPr id="72" name="Ellipse 109"/>
                <p:cNvSpPr/>
                <p:nvPr/>
              </p:nvSpPr>
              <p:spPr bwMode="gray">
                <a:xfrm rot="267039">
                  <a:off x="6677745" y="5763961"/>
                  <a:ext cx="301471" cy="310999"/>
                </a:xfrm>
                <a:prstGeom prst="ellipse">
                  <a:avLst/>
                </a:prstGeom>
                <a:solidFill>
                  <a:srgbClr val="8EC000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2</a:t>
                  </a:r>
                </a:p>
              </p:txBody>
            </p:sp>
            <p:sp>
              <p:nvSpPr>
                <p:cNvPr id="73" name="Ellipse 110"/>
                <p:cNvSpPr/>
                <p:nvPr/>
              </p:nvSpPr>
              <p:spPr bwMode="gray">
                <a:xfrm>
                  <a:off x="7176790" y="5752732"/>
                  <a:ext cx="301471" cy="310999"/>
                </a:xfrm>
                <a:prstGeom prst="ellipse">
                  <a:avLst/>
                </a:prstGeom>
                <a:solidFill>
                  <a:srgbClr val="8EC000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F</a:t>
                  </a:r>
                </a:p>
              </p:txBody>
            </p:sp>
          </p:grpSp>
        </p:grpSp>
        <p:grpSp>
          <p:nvGrpSpPr>
            <p:cNvPr id="17" name="Gruppieren 128"/>
            <p:cNvGrpSpPr/>
            <p:nvPr/>
          </p:nvGrpSpPr>
          <p:grpSpPr bwMode="gray">
            <a:xfrm>
              <a:off x="7945862" y="6029736"/>
              <a:ext cx="1198147" cy="1487529"/>
              <a:chOff x="8100777" y="5721391"/>
              <a:chExt cx="1198147" cy="1487529"/>
            </a:xfrm>
          </p:grpSpPr>
          <p:pic>
            <p:nvPicPr>
              <p:cNvPr id="60" name="Grafik 33"/>
              <p:cNvPicPr>
                <a:picLocks noChangeAspect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8361713" y="6179821"/>
                <a:ext cx="676275" cy="495300"/>
              </a:xfrm>
              <a:prstGeom prst="rect">
                <a:avLst/>
              </a:prstGeom>
            </p:spPr>
          </p:pic>
          <p:sp>
            <p:nvSpPr>
              <p:cNvPr id="61" name="Textfeld 48"/>
              <p:cNvSpPr txBox="1"/>
              <p:nvPr/>
            </p:nvSpPr>
            <p:spPr bwMode="gray">
              <a:xfrm>
                <a:off x="8242650" y="6369161"/>
                <a:ext cx="914400" cy="839759"/>
              </a:xfrm>
              <a:prstGeom prst="rect">
                <a:avLst/>
              </a:prstGeom>
              <a:noFill/>
            </p:spPr>
            <p:txBody>
              <a:bodyPr vert="horz" wrap="none" lIns="72000" tIns="72000" rIns="72000" bIns="72000" rtlCol="0" anchor="ctr" anchorCtr="1">
                <a:noAutofit/>
              </a:bodyPr>
              <a:lstStyle/>
              <a:p>
                <a:pPr algn="ctr"/>
                <a:r>
                  <a:rPr lang="en-US" sz="1100" dirty="0">
                    <a:solidFill>
                      <a:srgbClr val="CC0099"/>
                    </a:solidFill>
                  </a:rPr>
                  <a:t>FMIS supplier</a:t>
                </a:r>
              </a:p>
            </p:txBody>
          </p:sp>
          <p:grpSp>
            <p:nvGrpSpPr>
              <p:cNvPr id="62" name="Gruppieren 123"/>
              <p:cNvGrpSpPr/>
              <p:nvPr/>
            </p:nvGrpSpPr>
            <p:grpSpPr bwMode="gray">
              <a:xfrm>
                <a:off x="8100777" y="5721391"/>
                <a:ext cx="1198147" cy="322228"/>
                <a:chOff x="8100777" y="5721391"/>
                <a:chExt cx="1198147" cy="322228"/>
              </a:xfrm>
            </p:grpSpPr>
            <p:cxnSp>
              <p:nvCxnSpPr>
                <p:cNvPr id="63" name="Gerader Verbinder 111"/>
                <p:cNvCxnSpPr/>
                <p:nvPr/>
              </p:nvCxnSpPr>
              <p:spPr bwMode="gray">
                <a:xfrm>
                  <a:off x="8874006" y="5885847"/>
                  <a:ext cx="309619" cy="0"/>
                </a:xfrm>
                <a:prstGeom prst="line">
                  <a:avLst/>
                </a:prstGeom>
                <a:ln w="25400" cmpd="sng">
                  <a:solidFill>
                    <a:srgbClr val="CC0099"/>
                  </a:solidFill>
                  <a:prstDash val="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Ellipse 112"/>
                <p:cNvSpPr/>
                <p:nvPr/>
              </p:nvSpPr>
              <p:spPr bwMode="gray">
                <a:xfrm>
                  <a:off x="8100777" y="5721391"/>
                  <a:ext cx="301471" cy="310999"/>
                </a:xfrm>
                <a:prstGeom prst="ellipse">
                  <a:avLst/>
                </a:prstGeom>
                <a:solidFill>
                  <a:srgbClr val="CC0099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1</a:t>
                  </a:r>
                </a:p>
              </p:txBody>
            </p:sp>
            <p:sp>
              <p:nvSpPr>
                <p:cNvPr id="65" name="Ellipse 113"/>
                <p:cNvSpPr/>
                <p:nvPr/>
              </p:nvSpPr>
              <p:spPr bwMode="gray">
                <a:xfrm rot="267039">
                  <a:off x="8498408" y="5732620"/>
                  <a:ext cx="301471" cy="310999"/>
                </a:xfrm>
                <a:prstGeom prst="ellipse">
                  <a:avLst/>
                </a:prstGeom>
                <a:solidFill>
                  <a:srgbClr val="CC0099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2</a:t>
                  </a:r>
                </a:p>
              </p:txBody>
            </p:sp>
            <p:sp>
              <p:nvSpPr>
                <p:cNvPr id="66" name="Ellipse 114"/>
                <p:cNvSpPr/>
                <p:nvPr/>
              </p:nvSpPr>
              <p:spPr bwMode="gray">
                <a:xfrm>
                  <a:off x="8997453" y="5721391"/>
                  <a:ext cx="301471" cy="310999"/>
                </a:xfrm>
                <a:prstGeom prst="ellipse">
                  <a:avLst/>
                </a:prstGeom>
                <a:solidFill>
                  <a:srgbClr val="CC0099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X</a:t>
                  </a:r>
                </a:p>
              </p:txBody>
            </p:sp>
          </p:grpSp>
        </p:grpSp>
        <p:grpSp>
          <p:nvGrpSpPr>
            <p:cNvPr id="18" name="Gruppieren 129"/>
            <p:cNvGrpSpPr/>
            <p:nvPr/>
          </p:nvGrpSpPr>
          <p:grpSpPr bwMode="gray">
            <a:xfrm>
              <a:off x="9691749" y="6029736"/>
              <a:ext cx="1198147" cy="1524849"/>
              <a:chOff x="9872502" y="5721391"/>
              <a:chExt cx="1198147" cy="1524849"/>
            </a:xfrm>
          </p:grpSpPr>
          <p:pic>
            <p:nvPicPr>
              <p:cNvPr id="53" name="Grafik 20"/>
              <p:cNvPicPr>
                <a:picLocks noChangeAspect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gray">
              <a:xfrm>
                <a:off x="10195350" y="6184584"/>
                <a:ext cx="552450" cy="485775"/>
              </a:xfrm>
              <a:prstGeom prst="rect">
                <a:avLst/>
              </a:prstGeom>
            </p:spPr>
          </p:pic>
          <p:sp>
            <p:nvSpPr>
              <p:cNvPr id="54" name="Textfeld 26"/>
              <p:cNvSpPr txBox="1"/>
              <p:nvPr/>
            </p:nvSpPr>
            <p:spPr bwMode="gray">
              <a:xfrm>
                <a:off x="10014375" y="6331840"/>
                <a:ext cx="914400" cy="914400"/>
              </a:xfrm>
              <a:prstGeom prst="rect">
                <a:avLst/>
              </a:prstGeom>
              <a:noFill/>
            </p:spPr>
            <p:txBody>
              <a:bodyPr vert="horz" wrap="none" lIns="72000" tIns="72000" rIns="72000" bIns="72000" rtlCol="0" anchor="ctr" anchorCtr="1">
                <a:noAutofit/>
              </a:bodyPr>
              <a:lstStyle/>
              <a:p>
                <a:pPr algn="ctr"/>
                <a:r>
                  <a:rPr lang="en-US" sz="1100" dirty="0">
                    <a:solidFill>
                      <a:srgbClr val="FF66CC"/>
                    </a:solidFill>
                  </a:rPr>
                  <a:t>Advisor / </a:t>
                </a:r>
              </a:p>
              <a:p>
                <a:pPr algn="ctr"/>
                <a:r>
                  <a:rPr lang="en-US" sz="1100" dirty="0">
                    <a:solidFill>
                      <a:srgbClr val="FF66CC"/>
                    </a:solidFill>
                  </a:rPr>
                  <a:t>Agronomist</a:t>
                </a:r>
              </a:p>
            </p:txBody>
          </p:sp>
          <p:grpSp>
            <p:nvGrpSpPr>
              <p:cNvPr id="55" name="Gruppieren 124"/>
              <p:cNvGrpSpPr/>
              <p:nvPr/>
            </p:nvGrpSpPr>
            <p:grpSpPr bwMode="gray">
              <a:xfrm>
                <a:off x="9872502" y="5721391"/>
                <a:ext cx="1198147" cy="322228"/>
                <a:chOff x="9872502" y="5747156"/>
                <a:chExt cx="1198147" cy="322228"/>
              </a:xfrm>
            </p:grpSpPr>
            <p:cxnSp>
              <p:nvCxnSpPr>
                <p:cNvPr id="56" name="Gerader Verbinder 115"/>
                <p:cNvCxnSpPr/>
                <p:nvPr/>
              </p:nvCxnSpPr>
              <p:spPr bwMode="gray">
                <a:xfrm>
                  <a:off x="10645731" y="5911612"/>
                  <a:ext cx="309619" cy="0"/>
                </a:xfrm>
                <a:prstGeom prst="line">
                  <a:avLst/>
                </a:prstGeom>
                <a:ln w="25400" cmpd="sng">
                  <a:solidFill>
                    <a:srgbClr val="FF66CC"/>
                  </a:solidFill>
                  <a:prstDash val="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Ellipse 116"/>
                <p:cNvSpPr/>
                <p:nvPr/>
              </p:nvSpPr>
              <p:spPr bwMode="gray">
                <a:xfrm>
                  <a:off x="9872502" y="5747156"/>
                  <a:ext cx="301471" cy="310999"/>
                </a:xfrm>
                <a:prstGeom prst="ellipse">
                  <a:avLst/>
                </a:prstGeom>
                <a:solidFill>
                  <a:srgbClr val="FF66CC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1</a:t>
                  </a:r>
                </a:p>
              </p:txBody>
            </p:sp>
            <p:sp>
              <p:nvSpPr>
                <p:cNvPr id="58" name="Ellipse 117"/>
                <p:cNvSpPr/>
                <p:nvPr/>
              </p:nvSpPr>
              <p:spPr bwMode="gray">
                <a:xfrm rot="267039">
                  <a:off x="10270133" y="5758385"/>
                  <a:ext cx="301471" cy="310999"/>
                </a:xfrm>
                <a:prstGeom prst="ellipse">
                  <a:avLst/>
                </a:prstGeom>
                <a:solidFill>
                  <a:srgbClr val="FF66CC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2</a:t>
                  </a:r>
                </a:p>
              </p:txBody>
            </p:sp>
            <p:sp>
              <p:nvSpPr>
                <p:cNvPr id="59" name="Ellipse 118"/>
                <p:cNvSpPr/>
                <p:nvPr/>
              </p:nvSpPr>
              <p:spPr bwMode="gray">
                <a:xfrm>
                  <a:off x="10769178" y="5747156"/>
                  <a:ext cx="301471" cy="310999"/>
                </a:xfrm>
                <a:prstGeom prst="ellipse">
                  <a:avLst/>
                </a:prstGeom>
                <a:solidFill>
                  <a:srgbClr val="FF66CC"/>
                </a:solidFill>
                <a:ln w="31750">
                  <a:solidFill>
                    <a:srgbClr val="D9DFE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100" b="1" cap="all" dirty="0"/>
                    <a:t>A</a:t>
                  </a:r>
                </a:p>
              </p:txBody>
            </p:sp>
          </p:grpSp>
        </p:grpSp>
        <p:sp>
          <p:nvSpPr>
            <p:cNvPr id="19" name="Textfeld 162"/>
            <p:cNvSpPr txBox="1"/>
            <p:nvPr/>
          </p:nvSpPr>
          <p:spPr bwMode="gray">
            <a:xfrm>
              <a:off x="6354317" y="3678597"/>
              <a:ext cx="914400" cy="914400"/>
            </a:xfrm>
            <a:prstGeom prst="rect">
              <a:avLst/>
            </a:prstGeom>
            <a:noFill/>
          </p:spPr>
          <p:txBody>
            <a:bodyPr vert="horz" wrap="none" lIns="72000" tIns="72000" rIns="72000" bIns="72000" rtlCol="0" anchor="ctr" anchorCtr="1">
              <a:noAutofit/>
            </a:bodyPr>
            <a:lstStyle/>
            <a:p>
              <a:pPr algn="ctr"/>
              <a:endParaRPr lang="en-US" sz="4800" b="1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20" name="Gerader Verbinder 3"/>
            <p:cNvCxnSpPr>
              <a:stCxn id="131" idx="5"/>
            </p:cNvCxnSpPr>
            <p:nvPr/>
          </p:nvCxnSpPr>
          <p:spPr bwMode="gray">
            <a:xfrm>
              <a:off x="4548928" y="2315639"/>
              <a:ext cx="2262589" cy="1062432"/>
            </a:xfrm>
            <a:prstGeom prst="line">
              <a:avLst/>
            </a:prstGeom>
            <a:ln w="3175" cmpd="sng">
              <a:solidFill>
                <a:srgbClr val="008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166"/>
            <p:cNvCxnSpPr>
              <a:stCxn id="134" idx="4"/>
            </p:cNvCxnSpPr>
            <p:nvPr/>
          </p:nvCxnSpPr>
          <p:spPr bwMode="gray">
            <a:xfrm flipH="1">
              <a:off x="6811517" y="2367409"/>
              <a:ext cx="1373496" cy="1010662"/>
            </a:xfrm>
            <a:prstGeom prst="line">
              <a:avLst/>
            </a:prstGeom>
            <a:ln w="3175" cmpd="sng">
              <a:solidFill>
                <a:srgbClr val="008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169"/>
            <p:cNvCxnSpPr>
              <a:stCxn id="132" idx="4"/>
            </p:cNvCxnSpPr>
            <p:nvPr/>
          </p:nvCxnSpPr>
          <p:spPr bwMode="gray">
            <a:xfrm>
              <a:off x="5486828" y="2367409"/>
              <a:ext cx="1324689" cy="1010662"/>
            </a:xfrm>
            <a:prstGeom prst="line">
              <a:avLst/>
            </a:prstGeom>
            <a:ln w="3175" cmpd="sng">
              <a:solidFill>
                <a:srgbClr val="008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175"/>
            <p:cNvCxnSpPr>
              <a:stCxn id="135" idx="4"/>
            </p:cNvCxnSpPr>
            <p:nvPr/>
          </p:nvCxnSpPr>
          <p:spPr bwMode="gray">
            <a:xfrm flipH="1">
              <a:off x="6811517" y="2367409"/>
              <a:ext cx="2538595" cy="1010662"/>
            </a:xfrm>
            <a:prstGeom prst="line">
              <a:avLst/>
            </a:prstGeom>
            <a:ln w="3175" cmpd="sng">
              <a:solidFill>
                <a:srgbClr val="008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178"/>
            <p:cNvCxnSpPr>
              <a:stCxn id="121" idx="6"/>
            </p:cNvCxnSpPr>
            <p:nvPr/>
          </p:nvCxnSpPr>
          <p:spPr bwMode="gray">
            <a:xfrm>
              <a:off x="2082640" y="2460239"/>
              <a:ext cx="3152340" cy="1675559"/>
            </a:xfrm>
            <a:prstGeom prst="line">
              <a:avLst/>
            </a:prstGeom>
            <a:ln w="3175" cmpd="sng">
              <a:solidFill>
                <a:srgbClr val="00B0F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181"/>
            <p:cNvCxnSpPr>
              <a:stCxn id="122" idx="6"/>
            </p:cNvCxnSpPr>
            <p:nvPr/>
          </p:nvCxnSpPr>
          <p:spPr bwMode="gray">
            <a:xfrm>
              <a:off x="2082185" y="2883973"/>
              <a:ext cx="3152795" cy="1251825"/>
            </a:xfrm>
            <a:prstGeom prst="line">
              <a:avLst/>
            </a:prstGeom>
            <a:ln w="3175" cmpd="sng">
              <a:solidFill>
                <a:srgbClr val="00B0F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184"/>
            <p:cNvCxnSpPr>
              <a:stCxn id="123" idx="6"/>
            </p:cNvCxnSpPr>
            <p:nvPr/>
          </p:nvCxnSpPr>
          <p:spPr bwMode="gray">
            <a:xfrm>
              <a:off x="2082640" y="3625392"/>
              <a:ext cx="3152340" cy="510406"/>
            </a:xfrm>
            <a:prstGeom prst="line">
              <a:avLst/>
            </a:prstGeom>
            <a:ln w="3175" cmpd="sng">
              <a:solidFill>
                <a:srgbClr val="00B0F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187"/>
            <p:cNvCxnSpPr>
              <a:stCxn id="109" idx="6"/>
            </p:cNvCxnSpPr>
            <p:nvPr/>
          </p:nvCxnSpPr>
          <p:spPr bwMode="gray">
            <a:xfrm flipV="1">
              <a:off x="2057182" y="4135798"/>
              <a:ext cx="3177798" cy="340964"/>
            </a:xfrm>
            <a:prstGeom prst="line">
              <a:avLst/>
            </a:prstGeom>
            <a:ln w="3175" cmpd="sng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198"/>
            <p:cNvCxnSpPr>
              <a:stCxn id="110" idx="6"/>
            </p:cNvCxnSpPr>
            <p:nvPr/>
          </p:nvCxnSpPr>
          <p:spPr bwMode="gray">
            <a:xfrm flipV="1">
              <a:off x="2067357" y="4135798"/>
              <a:ext cx="3167623" cy="769424"/>
            </a:xfrm>
            <a:prstGeom prst="line">
              <a:avLst/>
            </a:prstGeom>
            <a:ln w="3175" cmpd="sng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01"/>
            <p:cNvCxnSpPr>
              <a:stCxn id="111" idx="6"/>
            </p:cNvCxnSpPr>
            <p:nvPr/>
          </p:nvCxnSpPr>
          <p:spPr bwMode="gray">
            <a:xfrm flipV="1">
              <a:off x="2067811" y="4135798"/>
              <a:ext cx="3167169" cy="1495007"/>
            </a:xfrm>
            <a:prstGeom prst="line">
              <a:avLst/>
            </a:prstGeom>
            <a:ln w="3175" cmpd="sng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04"/>
            <p:cNvCxnSpPr>
              <a:cxnSpLocks/>
              <a:stCxn id="82" idx="0"/>
            </p:cNvCxnSpPr>
            <p:nvPr/>
          </p:nvCxnSpPr>
          <p:spPr bwMode="gray">
            <a:xfrm flipV="1">
              <a:off x="2858934" y="4893524"/>
              <a:ext cx="2581860" cy="1136212"/>
            </a:xfrm>
            <a:prstGeom prst="line">
              <a:avLst/>
            </a:prstGeom>
            <a:ln w="3175" cmpd="sng">
              <a:solidFill>
                <a:srgbClr val="9933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208"/>
            <p:cNvCxnSpPr>
              <a:cxnSpLocks/>
              <a:stCxn id="83" idx="0"/>
            </p:cNvCxnSpPr>
            <p:nvPr/>
          </p:nvCxnSpPr>
          <p:spPr bwMode="gray">
            <a:xfrm flipV="1">
              <a:off x="3268632" y="4902699"/>
              <a:ext cx="2172162" cy="1138735"/>
            </a:xfrm>
            <a:prstGeom prst="line">
              <a:avLst/>
            </a:prstGeom>
            <a:ln w="3175" cmpd="sng">
              <a:solidFill>
                <a:srgbClr val="9933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210"/>
            <p:cNvCxnSpPr>
              <a:cxnSpLocks/>
              <a:stCxn id="84" idx="0"/>
            </p:cNvCxnSpPr>
            <p:nvPr/>
          </p:nvCxnSpPr>
          <p:spPr bwMode="gray">
            <a:xfrm flipV="1">
              <a:off x="3755610" y="4893524"/>
              <a:ext cx="1685184" cy="1136212"/>
            </a:xfrm>
            <a:prstGeom prst="line">
              <a:avLst/>
            </a:prstGeom>
            <a:ln w="3175" cmpd="sng">
              <a:solidFill>
                <a:srgbClr val="9933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213"/>
            <p:cNvCxnSpPr>
              <a:cxnSpLocks/>
              <a:stCxn id="75" idx="0"/>
            </p:cNvCxnSpPr>
            <p:nvPr/>
          </p:nvCxnSpPr>
          <p:spPr bwMode="gray">
            <a:xfrm flipV="1">
              <a:off x="4604822" y="4891001"/>
              <a:ext cx="1433219" cy="1138735"/>
            </a:xfrm>
            <a:prstGeom prst="line">
              <a:avLst/>
            </a:prstGeom>
            <a:ln w="3175" cmpd="sng">
              <a:solidFill>
                <a:srgbClr val="FF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216"/>
            <p:cNvCxnSpPr>
              <a:cxnSpLocks/>
              <a:stCxn id="76" idx="0"/>
            </p:cNvCxnSpPr>
            <p:nvPr/>
          </p:nvCxnSpPr>
          <p:spPr bwMode="gray">
            <a:xfrm flipV="1">
              <a:off x="5014520" y="4902699"/>
              <a:ext cx="995458" cy="1138735"/>
            </a:xfrm>
            <a:prstGeom prst="line">
              <a:avLst/>
            </a:prstGeom>
            <a:ln w="3175" cmpd="sng">
              <a:solidFill>
                <a:srgbClr val="FF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219"/>
            <p:cNvCxnSpPr>
              <a:cxnSpLocks/>
              <a:stCxn id="77" idx="0"/>
            </p:cNvCxnSpPr>
            <p:nvPr/>
          </p:nvCxnSpPr>
          <p:spPr bwMode="gray">
            <a:xfrm flipV="1">
              <a:off x="5501498" y="4883301"/>
              <a:ext cx="497671" cy="1146435"/>
            </a:xfrm>
            <a:prstGeom prst="line">
              <a:avLst/>
            </a:prstGeom>
            <a:ln w="3175" cmpd="sng">
              <a:solidFill>
                <a:srgbClr val="FF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222"/>
            <p:cNvCxnSpPr>
              <a:stCxn id="71" idx="0"/>
            </p:cNvCxnSpPr>
            <p:nvPr/>
          </p:nvCxnSpPr>
          <p:spPr bwMode="gray">
            <a:xfrm flipV="1">
              <a:off x="6350710" y="4893524"/>
              <a:ext cx="460807" cy="1136212"/>
            </a:xfrm>
            <a:prstGeom prst="line">
              <a:avLst/>
            </a:prstGeom>
            <a:ln w="3175" cmpd="sng">
              <a:solidFill>
                <a:srgbClr val="92D05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272"/>
            <p:cNvCxnSpPr>
              <a:stCxn id="72" idx="0"/>
            </p:cNvCxnSpPr>
            <p:nvPr/>
          </p:nvCxnSpPr>
          <p:spPr bwMode="gray">
            <a:xfrm flipV="1">
              <a:off x="6760408" y="4893524"/>
              <a:ext cx="51109" cy="1147910"/>
            </a:xfrm>
            <a:prstGeom prst="line">
              <a:avLst/>
            </a:prstGeom>
            <a:ln w="3175" cmpd="sng">
              <a:solidFill>
                <a:srgbClr val="92D05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276"/>
            <p:cNvCxnSpPr>
              <a:stCxn id="73" idx="0"/>
            </p:cNvCxnSpPr>
            <p:nvPr/>
          </p:nvCxnSpPr>
          <p:spPr bwMode="gray">
            <a:xfrm flipH="1" flipV="1">
              <a:off x="6811517" y="4893524"/>
              <a:ext cx="435869" cy="1136212"/>
            </a:xfrm>
            <a:prstGeom prst="line">
              <a:avLst/>
            </a:prstGeom>
            <a:ln w="3175" cmpd="sng">
              <a:solidFill>
                <a:srgbClr val="92D05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280"/>
            <p:cNvCxnSpPr>
              <a:stCxn id="64" idx="0"/>
            </p:cNvCxnSpPr>
            <p:nvPr/>
          </p:nvCxnSpPr>
          <p:spPr bwMode="gray">
            <a:xfrm flipH="1" flipV="1">
              <a:off x="7498265" y="4902699"/>
              <a:ext cx="598333" cy="1127037"/>
            </a:xfrm>
            <a:prstGeom prst="line">
              <a:avLst/>
            </a:prstGeom>
            <a:ln w="3175" cmpd="sng">
              <a:solidFill>
                <a:srgbClr val="CC0099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284"/>
            <p:cNvCxnSpPr>
              <a:stCxn id="65" idx="0"/>
            </p:cNvCxnSpPr>
            <p:nvPr/>
          </p:nvCxnSpPr>
          <p:spPr bwMode="gray">
            <a:xfrm flipH="1" flipV="1">
              <a:off x="7502935" y="4898111"/>
              <a:ext cx="1003361" cy="1143323"/>
            </a:xfrm>
            <a:prstGeom prst="line">
              <a:avLst/>
            </a:prstGeom>
            <a:ln w="3175" cmpd="sng">
              <a:solidFill>
                <a:srgbClr val="CC0099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287"/>
            <p:cNvCxnSpPr>
              <a:stCxn id="66" idx="0"/>
            </p:cNvCxnSpPr>
            <p:nvPr/>
          </p:nvCxnSpPr>
          <p:spPr bwMode="gray">
            <a:xfrm flipH="1" flipV="1">
              <a:off x="7506817" y="4898111"/>
              <a:ext cx="1486457" cy="1131625"/>
            </a:xfrm>
            <a:prstGeom prst="line">
              <a:avLst/>
            </a:prstGeom>
            <a:ln w="3175" cmpd="sng">
              <a:solidFill>
                <a:srgbClr val="CC0099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288"/>
            <p:cNvCxnSpPr>
              <a:stCxn id="57" idx="0"/>
            </p:cNvCxnSpPr>
            <p:nvPr/>
          </p:nvCxnSpPr>
          <p:spPr bwMode="gray">
            <a:xfrm flipH="1" flipV="1">
              <a:off x="8148495" y="4905223"/>
              <a:ext cx="1693990" cy="1124513"/>
            </a:xfrm>
            <a:prstGeom prst="line">
              <a:avLst/>
            </a:prstGeom>
            <a:ln w="3175" cmpd="sng">
              <a:solidFill>
                <a:srgbClr val="FF66CC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289"/>
            <p:cNvCxnSpPr>
              <a:stCxn id="58" idx="0"/>
            </p:cNvCxnSpPr>
            <p:nvPr/>
          </p:nvCxnSpPr>
          <p:spPr bwMode="gray">
            <a:xfrm flipH="1" flipV="1">
              <a:off x="8167571" y="4898111"/>
              <a:ext cx="2084612" cy="1143323"/>
            </a:xfrm>
            <a:prstGeom prst="line">
              <a:avLst/>
            </a:prstGeom>
            <a:ln w="3175" cmpd="sng">
              <a:solidFill>
                <a:srgbClr val="FF66CC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290"/>
            <p:cNvCxnSpPr>
              <a:stCxn id="59" idx="0"/>
            </p:cNvCxnSpPr>
            <p:nvPr/>
          </p:nvCxnSpPr>
          <p:spPr bwMode="gray">
            <a:xfrm flipH="1" flipV="1">
              <a:off x="8167571" y="4905223"/>
              <a:ext cx="2571590" cy="1124513"/>
            </a:xfrm>
            <a:prstGeom prst="line">
              <a:avLst/>
            </a:prstGeom>
            <a:ln w="3175" cmpd="sng">
              <a:solidFill>
                <a:srgbClr val="FF66CC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291"/>
            <p:cNvCxnSpPr>
              <a:stCxn id="88" idx="2"/>
            </p:cNvCxnSpPr>
            <p:nvPr/>
          </p:nvCxnSpPr>
          <p:spPr bwMode="gray">
            <a:xfrm flipH="1" flipV="1">
              <a:off x="8388054" y="4135798"/>
              <a:ext cx="3444234" cy="1585594"/>
            </a:xfrm>
            <a:prstGeom prst="line">
              <a:avLst/>
            </a:prstGeom>
            <a:ln w="3175" cmpd="sng">
              <a:solidFill>
                <a:srgbClr val="0070C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294"/>
            <p:cNvCxnSpPr>
              <a:stCxn id="87" idx="2"/>
            </p:cNvCxnSpPr>
            <p:nvPr/>
          </p:nvCxnSpPr>
          <p:spPr bwMode="gray">
            <a:xfrm flipH="1" flipV="1">
              <a:off x="8388054" y="4135798"/>
              <a:ext cx="3444688" cy="820781"/>
            </a:xfrm>
            <a:prstGeom prst="line">
              <a:avLst/>
            </a:prstGeom>
            <a:ln w="3175" cmpd="sng">
              <a:solidFill>
                <a:srgbClr val="0070C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297"/>
            <p:cNvCxnSpPr>
              <a:stCxn id="86" idx="2"/>
            </p:cNvCxnSpPr>
            <p:nvPr/>
          </p:nvCxnSpPr>
          <p:spPr bwMode="gray">
            <a:xfrm flipH="1" flipV="1">
              <a:off x="8388054" y="4135798"/>
              <a:ext cx="3444234" cy="420441"/>
            </a:xfrm>
            <a:prstGeom prst="line">
              <a:avLst/>
            </a:prstGeom>
            <a:ln w="3175" cmpd="sng">
              <a:solidFill>
                <a:srgbClr val="0070C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300"/>
            <p:cNvCxnSpPr>
              <a:stCxn id="96" idx="2"/>
            </p:cNvCxnSpPr>
            <p:nvPr/>
          </p:nvCxnSpPr>
          <p:spPr bwMode="gray">
            <a:xfrm flipH="1">
              <a:off x="8388054" y="2572126"/>
              <a:ext cx="3429451" cy="1563672"/>
            </a:xfrm>
            <a:prstGeom prst="line">
              <a:avLst/>
            </a:prstGeom>
            <a:ln w="3175" cmpd="sng">
              <a:solidFill>
                <a:schemeClr val="accent5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305"/>
            <p:cNvCxnSpPr>
              <a:stCxn id="97" idx="2"/>
            </p:cNvCxnSpPr>
            <p:nvPr/>
          </p:nvCxnSpPr>
          <p:spPr bwMode="gray">
            <a:xfrm flipH="1">
              <a:off x="8388054" y="2916680"/>
              <a:ext cx="3429905" cy="1219118"/>
            </a:xfrm>
            <a:prstGeom prst="line">
              <a:avLst/>
            </a:prstGeom>
            <a:ln w="3175" cmpd="sng">
              <a:solidFill>
                <a:schemeClr val="accent5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310"/>
            <p:cNvCxnSpPr>
              <a:stCxn id="98" idx="2"/>
            </p:cNvCxnSpPr>
            <p:nvPr/>
          </p:nvCxnSpPr>
          <p:spPr bwMode="gray">
            <a:xfrm flipH="1">
              <a:off x="8388054" y="3662681"/>
              <a:ext cx="3429451" cy="473117"/>
            </a:xfrm>
            <a:prstGeom prst="line">
              <a:avLst/>
            </a:prstGeom>
            <a:ln w="3175" cmpd="sng">
              <a:solidFill>
                <a:schemeClr val="accent5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Grafik 2"/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45135" y="6521564"/>
              <a:ext cx="321460" cy="491463"/>
            </a:xfrm>
            <a:prstGeom prst="rect">
              <a:avLst/>
            </a:prstGeom>
          </p:spPr>
        </p:pic>
        <p:pic>
          <p:nvPicPr>
            <p:cNvPr id="52" name="Grafik 5"/>
            <p:cNvPicPr>
              <a:picLocks noChangeAspect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38041" y="3393699"/>
              <a:ext cx="1404280" cy="1394391"/>
            </a:xfrm>
            <a:prstGeom prst="rect">
              <a:avLst/>
            </a:prstGeom>
          </p:spPr>
        </p:pic>
      </p:grpSp>
      <p:sp>
        <p:nvSpPr>
          <p:cNvPr id="137" name="TextBox 136"/>
          <p:cNvSpPr txBox="1"/>
          <p:nvPr/>
        </p:nvSpPr>
        <p:spPr>
          <a:xfrm>
            <a:off x="1572239" y="6034785"/>
            <a:ext cx="3319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Ag Industry Connections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58330" y="5960833"/>
            <a:ext cx="2332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Hub Connections </a:t>
            </a:r>
          </a:p>
        </p:txBody>
      </p:sp>
    </p:spTree>
    <p:extLst>
      <p:ext uri="{BB962C8B-B14F-4D97-AF65-F5344CB8AC3E}">
        <p14:creationId xmlns:p14="http://schemas.microsoft.com/office/powerpoint/2010/main" val="4108405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Growers Ag Data Cooperative/Ag Data Coalition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Neutral, Farmer controlled data repository</a:t>
            </a:r>
          </a:p>
          <a:p>
            <a:r>
              <a:rPr lang="en-US" dirty="0">
                <a:hlinkClick r:id="rId2"/>
              </a:rPr>
              <a:t>www.gisc.coop</a:t>
            </a:r>
            <a:r>
              <a:rPr lang="en-US" dirty="0"/>
              <a:t> &amp; </a:t>
            </a:r>
            <a:r>
              <a:rPr lang="en-US" dirty="0">
                <a:hlinkClick r:id="rId3"/>
              </a:rPr>
              <a:t>www.agdatacoalition.org</a:t>
            </a:r>
            <a:endParaRPr lang="en-US" dirty="0"/>
          </a:p>
          <a:p>
            <a:r>
              <a:rPr lang="en-US" dirty="0"/>
              <a:t>Focus on grower controlled permissioned access to data</a:t>
            </a:r>
          </a:p>
          <a:p>
            <a:r>
              <a:rPr lang="en-US" dirty="0"/>
              <a:t>Not for profit coalition brings in University and non-profit research connection that is difficult to facilitate with a commercial 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52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all this relate to OGC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orders and work records generally contain geo-referenced data points or management zones (polygons) within a field (bigger polygon)</a:t>
            </a:r>
          </a:p>
          <a:p>
            <a:r>
              <a:rPr lang="en-US" dirty="0"/>
              <a:t>A struggle in the industry is filed identification</a:t>
            </a:r>
          </a:p>
          <a:p>
            <a:pPr lvl="1"/>
            <a:r>
              <a:rPr lang="en-US" dirty="0"/>
              <a:t>USDA CLU, field operational boundary, legal field boundary</a:t>
            </a:r>
          </a:p>
          <a:p>
            <a:pPr lvl="1"/>
            <a:r>
              <a:rPr lang="en-US" dirty="0"/>
              <a:t>Some field boundaries defined with high accuracy GPS on machine, some drawn with a finger in an app </a:t>
            </a:r>
          </a:p>
          <a:p>
            <a:r>
              <a:rPr lang="en-US" dirty="0"/>
              <a:t>Growers also want to transfer data such as machine guidance lines between systems</a:t>
            </a:r>
          </a:p>
          <a:p>
            <a:pPr lvl="1"/>
            <a:r>
              <a:rPr lang="en-US" dirty="0"/>
              <a:t>Different manufacturers use different planes, coordinate systems, projections, and algorithms for contour smoothing</a:t>
            </a:r>
          </a:p>
          <a:p>
            <a:r>
              <a:rPr lang="en-US" dirty="0"/>
              <a:t>Field topography/elevation may play a larger role in nutrient management regulations in the future as well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73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Documents Examples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slides with interest &amp; time permitting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55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795058" y="549840"/>
            <a:ext cx="2826245" cy="2799748"/>
            <a:chOff x="8615764" y="379510"/>
            <a:chExt cx="2826245" cy="2799748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5764" y="379510"/>
              <a:ext cx="2826245" cy="2799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9368118" y="1434353"/>
              <a:ext cx="1228164" cy="6364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0746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is going to be grown where and how</a:t>
            </a:r>
          </a:p>
          <a:p>
            <a:r>
              <a:rPr lang="en-US" dirty="0"/>
              <a:t>Highly varied process from farm to farm</a:t>
            </a:r>
          </a:p>
          <a:p>
            <a:pPr lvl="1"/>
            <a:r>
              <a:rPr lang="en-US" dirty="0"/>
              <a:t>Some farmers have a documented plan based on input from advisors</a:t>
            </a:r>
          </a:p>
          <a:p>
            <a:pPr lvl="1"/>
            <a:r>
              <a:rPr lang="en-US" dirty="0"/>
              <a:t>Some just do what grandpa did</a:t>
            </a:r>
          </a:p>
          <a:p>
            <a:pPr lvl="1"/>
            <a:r>
              <a:rPr lang="en-US" dirty="0"/>
              <a:t>Most are somewhere in-between</a:t>
            </a:r>
          </a:p>
          <a:p>
            <a:r>
              <a:rPr lang="en-US" dirty="0"/>
              <a:t>A lot of work is done in the off season within in Farm Management Information System (FMIS)</a:t>
            </a:r>
          </a:p>
          <a:p>
            <a:pPr lvl="1"/>
            <a:r>
              <a:rPr lang="en-US" dirty="0"/>
              <a:t>Review historical information</a:t>
            </a:r>
          </a:p>
          <a:p>
            <a:pPr lvl="1"/>
            <a:r>
              <a:rPr lang="en-US" dirty="0"/>
              <a:t>Review projected crop prices</a:t>
            </a:r>
          </a:p>
          <a:p>
            <a:pPr lvl="1"/>
            <a:r>
              <a:rPr lang="en-US" dirty="0"/>
              <a:t>Estimates on long range forecast</a:t>
            </a:r>
          </a:p>
          <a:p>
            <a:pPr lvl="1"/>
            <a:r>
              <a:rPr lang="en-US" dirty="0"/>
              <a:t>Review of seed, chemical and other input costs</a:t>
            </a:r>
          </a:p>
          <a:p>
            <a:r>
              <a:rPr lang="en-US" dirty="0"/>
              <a:t>May pre-purchase inputs like seed and fertilizer</a:t>
            </a:r>
          </a:p>
          <a:p>
            <a:r>
              <a:rPr lang="en-US" dirty="0"/>
              <a:t>May forward contract grain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97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and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Historical data</a:t>
            </a:r>
          </a:p>
          <a:p>
            <a:pPr lvl="1"/>
            <a:r>
              <a:rPr lang="en-US" dirty="0"/>
              <a:t>Past fertilizer &amp; chemical applications</a:t>
            </a:r>
          </a:p>
          <a:p>
            <a:pPr lvl="1"/>
            <a:r>
              <a:rPr lang="en-US" dirty="0"/>
              <a:t>Past observations and Measurements</a:t>
            </a:r>
          </a:p>
          <a:p>
            <a:pPr lvl="2"/>
            <a:r>
              <a:rPr lang="en-US" dirty="0"/>
              <a:t>Yield maps</a:t>
            </a:r>
          </a:p>
          <a:p>
            <a:pPr lvl="2"/>
            <a:r>
              <a:rPr lang="en-US" dirty="0"/>
              <a:t>Soils sample</a:t>
            </a:r>
          </a:p>
          <a:p>
            <a:pPr lvl="2"/>
            <a:r>
              <a:rPr lang="en-US" dirty="0"/>
              <a:t>Weather</a:t>
            </a:r>
          </a:p>
          <a:p>
            <a:pPr lvl="1"/>
            <a:r>
              <a:rPr lang="en-US" dirty="0"/>
              <a:t>Historical yield details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0664" y="4104290"/>
            <a:ext cx="3566060" cy="2697221"/>
          </a:xfrm>
          <a:prstGeom prst="rect">
            <a:avLst/>
          </a:prstGeom>
        </p:spPr>
      </p:pic>
      <p:pic>
        <p:nvPicPr>
          <p:cNvPr id="7" name="Content Placeholder 4" descr="SCAN0038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09812" y="401262"/>
            <a:ext cx="3533665" cy="3312774"/>
          </a:xfrm>
          <a:prstGeom prst="rect">
            <a:avLst/>
          </a:prstGeom>
        </p:spPr>
      </p:pic>
      <p:pic>
        <p:nvPicPr>
          <p:cNvPr id="8" name="Content Placeholder 4" descr="SCAN0041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38505" y="3388975"/>
            <a:ext cx="3154194" cy="345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9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Crop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how we are going to grow this crop this season</a:t>
            </a:r>
          </a:p>
          <a:p>
            <a:pPr lvl="1"/>
            <a:r>
              <a:rPr lang="en-US" dirty="0"/>
              <a:t>First we will no-till the filed ,then plant Roundup Ready corn on April 23</a:t>
            </a:r>
            <a:r>
              <a:rPr lang="en-US" baseline="30000" dirty="0"/>
              <a:t>rd</a:t>
            </a:r>
            <a:r>
              <a:rPr lang="en-US" dirty="0"/>
              <a:t> (weather and soil temperature permitting), Variety DKC63-55 with fertilizer applications at planting, V4 and V8. An in furrow rootworm insecticide will be applied at planting as well. Weeds will be managed by spraying Round-up post emergence.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108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 and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happening out in the field</a:t>
            </a:r>
          </a:p>
          <a:p>
            <a:pPr lvl="1"/>
            <a:r>
              <a:rPr lang="en-US" dirty="0"/>
              <a:t>There is a fungus growing in a corner of the field</a:t>
            </a:r>
          </a:p>
          <a:p>
            <a:pPr lvl="1"/>
            <a:r>
              <a:rPr lang="en-US" dirty="0"/>
              <a:t>Drone imagery showing nutrient deficiency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6269" y="2858174"/>
            <a:ext cx="5687825" cy="399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17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what I recommend we do about it</a:t>
            </a:r>
          </a:p>
          <a:p>
            <a:pPr lvl="1"/>
            <a:r>
              <a:rPr lang="en-US" dirty="0"/>
              <a:t>Lets spray fungicide on the field</a:t>
            </a:r>
          </a:p>
          <a:p>
            <a:pPr lvl="1"/>
            <a:r>
              <a:rPr lang="en-US" dirty="0"/>
              <a:t>We should do an additional application of 28-0-0 fertilizer at these rates in these areas of the field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7254" y="2908539"/>
            <a:ext cx="4061212" cy="26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09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Order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what we are going to do about it</a:t>
            </a:r>
          </a:p>
          <a:p>
            <a:pPr lvl="1"/>
            <a:r>
              <a:rPr lang="en-US" dirty="0"/>
              <a:t>Preplanned tasks</a:t>
            </a:r>
          </a:p>
          <a:p>
            <a:pPr lvl="1"/>
            <a:r>
              <a:rPr lang="en-US" dirty="0"/>
              <a:t>Variable/flat rate application</a:t>
            </a:r>
          </a:p>
          <a:p>
            <a:pPr lvl="1"/>
            <a:r>
              <a:rPr lang="en-US" dirty="0"/>
              <a:t>Variable/flat rate seeding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2286" y="2515014"/>
            <a:ext cx="5750169" cy="40381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0736" y="2111493"/>
            <a:ext cx="1591377" cy="166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62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what we actually did</a:t>
            </a:r>
          </a:p>
          <a:p>
            <a:pPr lvl="1"/>
            <a:r>
              <a:rPr lang="en-US" dirty="0"/>
              <a:t>As-Applied</a:t>
            </a:r>
          </a:p>
          <a:p>
            <a:pPr lvl="1"/>
            <a:r>
              <a:rPr lang="en-US" dirty="0"/>
              <a:t>As-Planted</a:t>
            </a:r>
          </a:p>
          <a:p>
            <a:pPr lvl="1"/>
            <a:r>
              <a:rPr lang="en-US" dirty="0"/>
              <a:t>Yield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1081" y="1282567"/>
            <a:ext cx="5401542" cy="463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67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Records of field operations needs for carious reporting purposes</a:t>
            </a:r>
          </a:p>
          <a:p>
            <a:pPr lvl="1"/>
            <a:r>
              <a:rPr lang="en-US" dirty="0"/>
              <a:t>Crop insurance</a:t>
            </a:r>
          </a:p>
          <a:p>
            <a:pPr lvl="1"/>
            <a:r>
              <a:rPr lang="en-US" dirty="0"/>
              <a:t>Environmental/regulatory</a:t>
            </a:r>
          </a:p>
          <a:p>
            <a:pPr lvl="1"/>
            <a:r>
              <a:rPr lang="en-US" dirty="0"/>
              <a:t>Sustainability </a:t>
            </a:r>
          </a:p>
          <a:p>
            <a:pPr lvl="1"/>
            <a:r>
              <a:rPr lang="en-US" dirty="0"/>
              <a:t>Traceability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AE9-6769-AF46-A6E9-ED859301442F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91409" y="3766868"/>
            <a:ext cx="8668591" cy="27863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57501" y="4279769"/>
            <a:ext cx="1150070" cy="348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40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 to AgGateway - Updated Spring 2015</Template>
  <TotalTime>5718</TotalTime>
  <Words>1132</Words>
  <Application>Microsoft Office PowerPoint</Application>
  <PresentationFormat>Widescreen</PresentationFormat>
  <Paragraphs>280</Paragraphs>
  <Slides>29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Cambria</vt:lpstr>
      <vt:lpstr>Clarity</vt:lpstr>
      <vt:lpstr>OGC Conference</vt:lpstr>
      <vt:lpstr>PowerPoint Presentation</vt:lpstr>
      <vt:lpstr>SPADE Projects</vt:lpstr>
      <vt:lpstr>Pail Project</vt:lpstr>
      <vt:lpstr>Field Operations &amp; Telematics</vt:lpstr>
      <vt:lpstr>Information Flow  </vt:lpstr>
      <vt:lpstr>SPADE Development Process</vt:lpstr>
      <vt:lpstr>Telematics Standardization</vt:lpstr>
      <vt:lpstr>AgGateway – SPADE3: WAVE</vt:lpstr>
      <vt:lpstr>WAVE User Stories to BPMN</vt:lpstr>
      <vt:lpstr>WAVE Data Buckets</vt:lpstr>
      <vt:lpstr>AEF PG9:FMIS, Sub-group EFDI</vt:lpstr>
      <vt:lpstr>AEM/AEMP 2.0 – ISO15143</vt:lpstr>
      <vt:lpstr>OADA</vt:lpstr>
      <vt:lpstr>ADAPT</vt:lpstr>
      <vt:lpstr>IOFF2020</vt:lpstr>
      <vt:lpstr>DKE</vt:lpstr>
      <vt:lpstr>Growers Ag Data Cooperative/Ag Data Coalition</vt:lpstr>
      <vt:lpstr>How does all this relate to OGC</vt:lpstr>
      <vt:lpstr>Core Documents Examples</vt:lpstr>
      <vt:lpstr>Planning</vt:lpstr>
      <vt:lpstr>Planning</vt:lpstr>
      <vt:lpstr>History and Records</vt:lpstr>
      <vt:lpstr>Crop Plan</vt:lpstr>
      <vt:lpstr>Observations and Measurements</vt:lpstr>
      <vt:lpstr>Recommendation </vt:lpstr>
      <vt:lpstr>Work Order </vt:lpstr>
      <vt:lpstr>Work Record</vt:lpstr>
      <vt:lpstr>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Voss</dc:creator>
  <cp:lastModifiedBy>Ben Craker</cp:lastModifiedBy>
  <cp:revision>942</cp:revision>
  <cp:lastPrinted>2014-05-09T21:30:51Z</cp:lastPrinted>
  <dcterms:created xsi:type="dcterms:W3CDTF">2014-09-04T18:42:55Z</dcterms:created>
  <dcterms:modified xsi:type="dcterms:W3CDTF">2017-03-21T08:53:15Z</dcterms:modified>
</cp:coreProperties>
</file>